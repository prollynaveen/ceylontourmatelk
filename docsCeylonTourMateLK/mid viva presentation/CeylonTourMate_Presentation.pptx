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5"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3729" autoAdjust="0"/>
  </p:normalViewPr>
  <p:slideViewPr>
    <p:cSldViewPr snapToGrid="0" snapToObjects="1">
      <p:cViewPr varScale="1">
        <p:scale>
          <a:sx n="58" d="100"/>
          <a:sy n="58" d="100"/>
        </p:scale>
        <p:origin x="1618"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5507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sir today </a:t>
            </a:r>
            <a:r>
              <a:rPr lang="en-US" dirty="0" err="1"/>
              <a:t>im</a:t>
            </a:r>
            <a:r>
              <a:rPr lang="en-US" dirty="0"/>
              <a:t> going to show my progress on my final year project, CeylonTourMate.lk — a centralized tourism platform for Sri Lanka. Today I'll walk through what's been completed so far: requirements, database design, and use case modelling.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of all the introduction</a:t>
            </a:r>
          </a:p>
          <a:p>
            <a:r>
              <a:rPr lang="en-US" dirty="0"/>
              <a:t>Tourism is one of the fastest-growing industries in </a:t>
            </a:r>
            <a:r>
              <a:rPr lang="en-US" dirty="0" err="1"/>
              <a:t>srilanka</a:t>
            </a:r>
            <a:r>
              <a:rPr lang="en-US" dirty="0"/>
              <a:t>, but right now information about guides, hotels, shops, and local experiences is spread across many different platforms. My goal with CeylonTourMate.lk is to bring all of that into one centralized, trustworthy </a:t>
            </a:r>
            <a:r>
              <a:rPr lang="en-US" dirty="0" err="1"/>
              <a:t>trustworthy</a:t>
            </a:r>
            <a:r>
              <a:rPr lang="en-US" dirty="0"/>
              <a:t> platform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next the problem definition</a:t>
            </a:r>
            <a:br>
              <a:rPr lang="en-US" dirty="0"/>
            </a:br>
            <a:r>
              <a:rPr lang="en-US" dirty="0"/>
              <a:t>currently most of the tourist face these problems today</a:t>
            </a:r>
          </a:p>
          <a:p>
            <a:r>
              <a:rPr lang="en-US" dirty="0"/>
              <a:t>These are the six core problems I identified that tourists face today — things like unlicensed guides overcharging tourists, hidden village-side locations that don't show up anywhere online, language barriers, transport confusion, scattered accommodation listings, and no centralized way to discover local cultural experiences. Each of these directly shaped a feature in my system.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six actor types in my system. Tourists are the main consumers — they search, book, pay, and review. Admin oversees the whole platform, approves partners, and manages commission. The remaining four are local partners — tour guides, shop owners, hotel owners, and experience providers — each with a slightly different relationship to bookings, which I'll explain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booking and revenue flow. A tourist books a guide, hotel room, or experience — shops are excluded here since they're not bookable services. Once the partner accepts, the tourist pays online — I made it card-only rather than allowing cash, since cash payments can't be tracked for commission collection. Admin then takes a percentage commission automatically from each completed booking. Shop owners are the one exception — since they don't take bookings, they instead pay a flat monthly listing fee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I've completed the problem definition and SRS, the full 21-table database schema, the ER diagram with cardinalities, and the use case diagram. Next, I'll finalize a few remaining corrections on the use case diagram, then move into building the frontend page structure, followed by the core backend — authentication, listings, and bookings — and finally the commission and payment logic.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2EB05-E086-6B0A-72B2-D9D1DECEBD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BB65A7-CE7C-C19E-CFE4-617A5BE227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4CB80B-4427-68D4-A41F-AD800C3A8D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D9A693-FE84-5D8E-451D-47444539DAB3}"/>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193985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6.png"/><Relationship Id="rId7"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3"/>
        </a:solidFill>
        <a:effectLst/>
      </p:bgPr>
    </p:bg>
    <p:spTree>
      <p:nvGrpSpPr>
        <p:cNvPr id="1" name=""/>
        <p:cNvGrpSpPr/>
        <p:nvPr/>
      </p:nvGrpSpPr>
      <p:grpSpPr>
        <a:xfrm>
          <a:off x="0" y="0"/>
          <a:ext cx="0" cy="0"/>
          <a:chOff x="0" y="0"/>
          <a:chExt cx="0" cy="0"/>
        </a:xfrm>
      </p:grpSpPr>
      <p:sp>
        <p:nvSpPr>
          <p:cNvPr id="2" name="Shape 0"/>
          <p:cNvSpPr/>
          <p:nvPr/>
        </p:nvSpPr>
        <p:spPr>
          <a:xfrm>
            <a:off x="9418320" y="-1645920"/>
            <a:ext cx="5029200" cy="5029200"/>
          </a:xfrm>
          <a:prstGeom prst="ellipse">
            <a:avLst/>
          </a:prstGeom>
          <a:solidFill>
            <a:srgbClr val="0E3B5C">
              <a:alpha val="70000"/>
            </a:srgbClr>
          </a:solidFill>
          <a:ln/>
        </p:spPr>
        <p:txBody>
          <a:bodyPr/>
          <a:lstStyle/>
          <a:p>
            <a:endParaRPr lang="en-US"/>
          </a:p>
        </p:txBody>
      </p:sp>
      <p:sp>
        <p:nvSpPr>
          <p:cNvPr id="3" name="Shape 1"/>
          <p:cNvSpPr/>
          <p:nvPr/>
        </p:nvSpPr>
        <p:spPr>
          <a:xfrm>
            <a:off x="-1371600" y="4754880"/>
            <a:ext cx="4114800" cy="4114800"/>
          </a:xfrm>
          <a:prstGeom prst="ellipse">
            <a:avLst/>
          </a:prstGeom>
          <a:solidFill>
            <a:srgbClr val="1C7293">
              <a:alpha val="45000"/>
            </a:srgbClr>
          </a:solidFill>
          <a:ln/>
        </p:spPr>
        <p:txBody>
          <a:bodyPr/>
          <a:lstStyle/>
          <a:p>
            <a:endParaRPr lang="en-US"/>
          </a:p>
        </p:txBody>
      </p:sp>
      <p:sp>
        <p:nvSpPr>
          <p:cNvPr id="4" name="Shape 2"/>
          <p:cNvSpPr/>
          <p:nvPr/>
        </p:nvSpPr>
        <p:spPr>
          <a:xfrm>
            <a:off x="731520" y="914400"/>
            <a:ext cx="731520" cy="731520"/>
          </a:xfrm>
          <a:prstGeom prst="ellipse">
            <a:avLst/>
          </a:prstGeom>
          <a:solidFill>
            <a:srgbClr val="1C7293"/>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921715" y="1104595"/>
            <a:ext cx="351130" cy="351130"/>
          </a:xfrm>
          <a:prstGeom prst="rect">
            <a:avLst/>
          </a:prstGeom>
        </p:spPr>
      </p:pic>
      <p:sp>
        <p:nvSpPr>
          <p:cNvPr id="6" name="Text 3"/>
          <p:cNvSpPr/>
          <p:nvPr/>
        </p:nvSpPr>
        <p:spPr>
          <a:xfrm>
            <a:off x="731520" y="1920240"/>
            <a:ext cx="10515600" cy="100584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CeylonTourMate.lk</a:t>
            </a:r>
            <a:endParaRPr lang="en-US" sz="4400" dirty="0"/>
          </a:p>
        </p:txBody>
      </p:sp>
      <p:sp>
        <p:nvSpPr>
          <p:cNvPr id="7" name="Text 4"/>
          <p:cNvSpPr/>
          <p:nvPr/>
        </p:nvSpPr>
        <p:spPr>
          <a:xfrm>
            <a:off x="731520" y="2880360"/>
            <a:ext cx="9144000" cy="548640"/>
          </a:xfrm>
          <a:prstGeom prst="rect">
            <a:avLst/>
          </a:prstGeom>
          <a:noFill/>
          <a:ln/>
        </p:spPr>
        <p:txBody>
          <a:bodyPr wrap="square" lIns="0" tIns="0" rIns="0" bIns="0"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A centralized tourism services platform for Sri Lanka</a:t>
            </a:r>
            <a:endParaRPr lang="en-US" sz="1800" dirty="0"/>
          </a:p>
        </p:txBody>
      </p:sp>
      <p:sp>
        <p:nvSpPr>
          <p:cNvPr id="8" name="Text 5"/>
          <p:cNvSpPr/>
          <p:nvPr/>
        </p:nvSpPr>
        <p:spPr>
          <a:xfrm>
            <a:off x="731520" y="5212080"/>
            <a:ext cx="9144000" cy="822960"/>
          </a:xfrm>
          <a:prstGeom prst="rect">
            <a:avLst/>
          </a:prstGeom>
          <a:noFill/>
          <a:ln/>
        </p:spPr>
        <p:txBody>
          <a:bodyPr wrap="square" lIns="0" tIns="0" rIns="0" bIns="0" rtlCol="0" anchor="ctr"/>
          <a:lstStyle/>
          <a:p>
            <a:pPr marL="0" indent="0">
              <a:lnSpc>
                <a:spcPct val="130000"/>
              </a:lnSpc>
              <a:buNone/>
            </a:pPr>
            <a:r>
              <a:rPr lang="en-US" sz="1350" dirty="0">
                <a:solidFill>
                  <a:srgbClr val="9FB3C8"/>
                </a:solidFill>
                <a:latin typeface="Calibri" pitchFamily="34" charset="0"/>
                <a:ea typeface="Calibri" pitchFamily="34" charset="-122"/>
                <a:cs typeface="Calibri" pitchFamily="34" charset="-120"/>
              </a:rPr>
              <a:t>Final Year Project — Supervisor Check-in</a:t>
            </a:r>
            <a:endParaRPr lang="en-US" sz="1350" dirty="0"/>
          </a:p>
          <a:p>
            <a:pPr marL="0" indent="0">
              <a:lnSpc>
                <a:spcPct val="130000"/>
              </a:lnSpc>
              <a:buNone/>
            </a:pPr>
            <a:r>
              <a:rPr lang="en-US" sz="1350" dirty="0">
                <a:solidFill>
                  <a:srgbClr val="9FB3C8"/>
                </a:solidFill>
                <a:latin typeface="Calibri" pitchFamily="34" charset="0"/>
                <a:ea typeface="Calibri" pitchFamily="34" charset="-122"/>
                <a:cs typeface="Calibri" pitchFamily="34" charset="-120"/>
              </a:rPr>
              <a:t>Progress: Requirements · Database Design · Use Case Modelling</a:t>
            </a:r>
            <a:br>
              <a:rPr lang="en-US" sz="1350" dirty="0">
                <a:solidFill>
                  <a:srgbClr val="9FB3C8"/>
                </a:solidFill>
                <a:latin typeface="Calibri" pitchFamily="34" charset="0"/>
                <a:ea typeface="Calibri" pitchFamily="34" charset="-122"/>
                <a:cs typeface="Calibri" pitchFamily="34" charset="-120"/>
              </a:rPr>
            </a:br>
            <a:r>
              <a:rPr lang="en-US" dirty="0">
                <a:solidFill>
                  <a:srgbClr val="9FB3C8"/>
                </a:solidFill>
                <a:latin typeface="Calibri" pitchFamily="34" charset="0"/>
                <a:ea typeface="Calibri" pitchFamily="34" charset="-122"/>
                <a:cs typeface="Calibri" pitchFamily="34" charset="-120"/>
              </a:rPr>
              <a:t>GADSE251F-018</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F2A43"/>
          </a:solidFill>
          <a:ln/>
        </p:spPr>
        <p:txBody>
          <a:bodyPr/>
          <a:lstStyle/>
          <a:p>
            <a:endParaRPr lang="en-US"/>
          </a:p>
        </p:txBody>
      </p:sp>
      <p:sp>
        <p:nvSpPr>
          <p:cNvPr id="3" name="Text 1"/>
          <p:cNvSpPr/>
          <p:nvPr/>
        </p:nvSpPr>
        <p:spPr>
          <a:xfrm>
            <a:off x="548640" y="256032"/>
            <a:ext cx="73152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Introduction</a:t>
            </a:r>
            <a:endParaRPr lang="en-US" sz="2600" dirty="0"/>
          </a:p>
        </p:txBody>
      </p:sp>
      <p:sp>
        <p:nvSpPr>
          <p:cNvPr id="4" name="Text 2"/>
          <p:cNvSpPr/>
          <p:nvPr/>
        </p:nvSpPr>
        <p:spPr>
          <a:xfrm>
            <a:off x="548640" y="1371600"/>
            <a:ext cx="7040880" cy="2194560"/>
          </a:xfrm>
          <a:prstGeom prst="rect">
            <a:avLst/>
          </a:prstGeom>
          <a:noFill/>
          <a:ln/>
        </p:spPr>
        <p:txBody>
          <a:bodyPr wrap="square" lIns="0" tIns="0" rIns="0" bIns="0" rtlCol="0" anchor="ctr"/>
          <a:lstStyle/>
          <a:p>
            <a:pPr marL="0" indent="0">
              <a:lnSpc>
                <a:spcPct val="125000"/>
              </a:lnSpc>
              <a:buNone/>
            </a:pPr>
            <a:r>
              <a:rPr lang="en-US" sz="1450" dirty="0">
                <a:solidFill>
                  <a:srgbClr val="1E293B"/>
                </a:solidFill>
                <a:latin typeface="Calibri" pitchFamily="34" charset="0"/>
                <a:ea typeface="Calibri" pitchFamily="34" charset="-122"/>
                <a:cs typeface="Calibri" pitchFamily="34" charset="-120"/>
              </a:rPr>
              <a:t>Tourism is one of Sri Lanka's fastest-growing industries, contributing significantly to the national economy. Local guides, hotel owners, shop owners, and experience providers offer services to tourists — but this information is spread across many platforms, making it hard for visitors to find reliable options and hard for small local businesses to get visibility.</a:t>
            </a:r>
            <a:endParaRPr lang="en-US" sz="1450" dirty="0"/>
          </a:p>
        </p:txBody>
      </p:sp>
      <p:sp>
        <p:nvSpPr>
          <p:cNvPr id="5" name="Shape 3"/>
          <p:cNvSpPr/>
          <p:nvPr/>
        </p:nvSpPr>
        <p:spPr>
          <a:xfrm>
            <a:off x="548640" y="3703320"/>
            <a:ext cx="7040880" cy="1417320"/>
          </a:xfrm>
          <a:prstGeom prst="roundRect">
            <a:avLst>
              <a:gd name="adj" fmla="val 5161"/>
            </a:avLst>
          </a:prstGeom>
          <a:solidFill>
            <a:srgbClr val="F4EDE1"/>
          </a:solidFill>
          <a:ln/>
          <a:effectLst>
            <a:outerShdw blurRad="101600" dist="38100" dir="2700000" algn="bl" rotWithShape="0">
              <a:srgbClr val="000000">
                <a:alpha val="12000"/>
              </a:srgbClr>
            </a:outerShdw>
          </a:effectLst>
        </p:spPr>
        <p:txBody>
          <a:bodyPr/>
          <a:lstStyle/>
          <a:p>
            <a:endParaRPr lang="en-US"/>
          </a:p>
        </p:txBody>
      </p:sp>
      <p:sp>
        <p:nvSpPr>
          <p:cNvPr id="6" name="Text 4"/>
          <p:cNvSpPr/>
          <p:nvPr/>
        </p:nvSpPr>
        <p:spPr>
          <a:xfrm>
            <a:off x="868680" y="3886200"/>
            <a:ext cx="6400800" cy="1051560"/>
          </a:xfrm>
          <a:prstGeom prst="rect">
            <a:avLst/>
          </a:prstGeom>
          <a:noFill/>
          <a:ln/>
        </p:spPr>
        <p:txBody>
          <a:bodyPr wrap="square" lIns="0" tIns="0" rIns="0" bIns="0" rtlCol="0" anchor="ctr"/>
          <a:lstStyle/>
          <a:p>
            <a:pPr marL="0" indent="0">
              <a:buNone/>
            </a:pPr>
            <a:r>
              <a:rPr lang="en-US" sz="1350" b="1" dirty="0">
                <a:solidFill>
                  <a:srgbClr val="0F2A43"/>
                </a:solidFill>
                <a:latin typeface="Calibri" pitchFamily="34" charset="0"/>
                <a:ea typeface="Calibri" pitchFamily="34" charset="-122"/>
                <a:cs typeface="Calibri" pitchFamily="34" charset="-120"/>
              </a:rPr>
              <a:t>The goal: </a:t>
            </a:r>
            <a:r>
              <a:rPr lang="en-US" sz="1350" dirty="0">
                <a:solidFill>
                  <a:srgbClr val="1E293B"/>
                </a:solidFill>
                <a:latin typeface="Calibri" pitchFamily="34" charset="0"/>
                <a:ea typeface="Calibri" pitchFamily="34" charset="-122"/>
                <a:cs typeface="Calibri" pitchFamily="34" charset="-120"/>
              </a:rPr>
              <a:t>build a single, trustworthy platform — CeylonTourMate.lk — connecting tourists with verified local guides, hotels, shops, and experience providers.</a:t>
            </a:r>
            <a:endParaRPr lang="en-US" sz="1350" dirty="0"/>
          </a:p>
        </p:txBody>
      </p:sp>
      <p:sp>
        <p:nvSpPr>
          <p:cNvPr id="7" name="Shape 5"/>
          <p:cNvSpPr/>
          <p:nvPr/>
        </p:nvSpPr>
        <p:spPr>
          <a:xfrm>
            <a:off x="7955280" y="1463040"/>
            <a:ext cx="3566160" cy="868680"/>
          </a:xfrm>
          <a:prstGeom prst="roundRect">
            <a:avLst>
              <a:gd name="adj" fmla="val 7368"/>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US"/>
          </a:p>
        </p:txBody>
      </p:sp>
      <p:sp>
        <p:nvSpPr>
          <p:cNvPr id="8" name="Shape 6"/>
          <p:cNvSpPr/>
          <p:nvPr/>
        </p:nvSpPr>
        <p:spPr>
          <a:xfrm>
            <a:off x="8138160" y="1627632"/>
            <a:ext cx="548640" cy="548640"/>
          </a:xfrm>
          <a:prstGeom prst="ellipse">
            <a:avLst/>
          </a:prstGeom>
          <a:solidFill>
            <a:srgbClr val="1C7293"/>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8280806" y="1770278"/>
            <a:ext cx="263347" cy="263347"/>
          </a:xfrm>
          <a:prstGeom prst="rect">
            <a:avLst/>
          </a:prstGeom>
        </p:spPr>
      </p:pic>
      <p:sp>
        <p:nvSpPr>
          <p:cNvPr id="10" name="Text 7"/>
          <p:cNvSpPr/>
          <p:nvPr/>
        </p:nvSpPr>
        <p:spPr>
          <a:xfrm>
            <a:off x="8823960" y="1463040"/>
            <a:ext cx="2606040" cy="86868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Tour Guides</a:t>
            </a:r>
            <a:endParaRPr lang="en-US" sz="1400" dirty="0"/>
          </a:p>
        </p:txBody>
      </p:sp>
      <p:sp>
        <p:nvSpPr>
          <p:cNvPr id="11" name="Shape 8"/>
          <p:cNvSpPr/>
          <p:nvPr/>
        </p:nvSpPr>
        <p:spPr>
          <a:xfrm>
            <a:off x="7955280" y="2542032"/>
            <a:ext cx="3566160" cy="868680"/>
          </a:xfrm>
          <a:prstGeom prst="roundRect">
            <a:avLst>
              <a:gd name="adj" fmla="val 7368"/>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US"/>
          </a:p>
        </p:txBody>
      </p:sp>
      <p:sp>
        <p:nvSpPr>
          <p:cNvPr id="12" name="Shape 9"/>
          <p:cNvSpPr/>
          <p:nvPr/>
        </p:nvSpPr>
        <p:spPr>
          <a:xfrm>
            <a:off x="8138160" y="2706624"/>
            <a:ext cx="548640" cy="548640"/>
          </a:xfrm>
          <a:prstGeom prst="ellipse">
            <a:avLst/>
          </a:prstGeom>
          <a:solidFill>
            <a:srgbClr val="65B89C"/>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8280806" y="2849270"/>
            <a:ext cx="263347" cy="263347"/>
          </a:xfrm>
          <a:prstGeom prst="rect">
            <a:avLst/>
          </a:prstGeom>
        </p:spPr>
      </p:pic>
      <p:sp>
        <p:nvSpPr>
          <p:cNvPr id="14" name="Text 10"/>
          <p:cNvSpPr/>
          <p:nvPr/>
        </p:nvSpPr>
        <p:spPr>
          <a:xfrm>
            <a:off x="8823960" y="2542032"/>
            <a:ext cx="2606040" cy="86868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Hotel Owners</a:t>
            </a:r>
            <a:endParaRPr lang="en-US" sz="1400" dirty="0"/>
          </a:p>
        </p:txBody>
      </p:sp>
      <p:sp>
        <p:nvSpPr>
          <p:cNvPr id="15" name="Shape 11"/>
          <p:cNvSpPr/>
          <p:nvPr/>
        </p:nvSpPr>
        <p:spPr>
          <a:xfrm>
            <a:off x="7955280" y="3621024"/>
            <a:ext cx="3566160" cy="868680"/>
          </a:xfrm>
          <a:prstGeom prst="roundRect">
            <a:avLst>
              <a:gd name="adj" fmla="val 7368"/>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US"/>
          </a:p>
        </p:txBody>
      </p:sp>
      <p:sp>
        <p:nvSpPr>
          <p:cNvPr id="16" name="Shape 12"/>
          <p:cNvSpPr/>
          <p:nvPr/>
        </p:nvSpPr>
        <p:spPr>
          <a:xfrm>
            <a:off x="8138160" y="3785616"/>
            <a:ext cx="548640" cy="548640"/>
          </a:xfrm>
          <a:prstGeom prst="ellipse">
            <a:avLst/>
          </a:prstGeom>
          <a:solidFill>
            <a:srgbClr val="0E3B5C"/>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8280806" y="3928262"/>
            <a:ext cx="263347" cy="263347"/>
          </a:xfrm>
          <a:prstGeom prst="rect">
            <a:avLst/>
          </a:prstGeom>
        </p:spPr>
      </p:pic>
      <p:sp>
        <p:nvSpPr>
          <p:cNvPr id="18" name="Text 13"/>
          <p:cNvSpPr/>
          <p:nvPr/>
        </p:nvSpPr>
        <p:spPr>
          <a:xfrm>
            <a:off x="8823960" y="3621024"/>
            <a:ext cx="2606040" cy="86868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Shop Owners</a:t>
            </a:r>
            <a:endParaRPr lang="en-US" sz="1400" dirty="0"/>
          </a:p>
        </p:txBody>
      </p:sp>
      <p:sp>
        <p:nvSpPr>
          <p:cNvPr id="19" name="Shape 14"/>
          <p:cNvSpPr/>
          <p:nvPr/>
        </p:nvSpPr>
        <p:spPr>
          <a:xfrm>
            <a:off x="7955280" y="4700016"/>
            <a:ext cx="3566160" cy="868680"/>
          </a:xfrm>
          <a:prstGeom prst="roundRect">
            <a:avLst>
              <a:gd name="adj" fmla="val 7368"/>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US"/>
          </a:p>
        </p:txBody>
      </p:sp>
      <p:sp>
        <p:nvSpPr>
          <p:cNvPr id="20" name="Shape 15"/>
          <p:cNvSpPr/>
          <p:nvPr/>
        </p:nvSpPr>
        <p:spPr>
          <a:xfrm>
            <a:off x="8138160" y="4864608"/>
            <a:ext cx="548640" cy="548640"/>
          </a:xfrm>
          <a:prstGeom prst="ellipse">
            <a:avLst/>
          </a:prstGeom>
          <a:solidFill>
            <a:srgbClr val="0F2A43"/>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8280806" y="5007254"/>
            <a:ext cx="263347" cy="263347"/>
          </a:xfrm>
          <a:prstGeom prst="rect">
            <a:avLst/>
          </a:prstGeom>
        </p:spPr>
      </p:pic>
      <p:sp>
        <p:nvSpPr>
          <p:cNvPr id="22" name="Text 16"/>
          <p:cNvSpPr/>
          <p:nvPr/>
        </p:nvSpPr>
        <p:spPr>
          <a:xfrm>
            <a:off x="8823960" y="4700016"/>
            <a:ext cx="2606040" cy="86868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Experience Providers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EDE1"/>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lIns="0" tIns="0" rIns="0" bIns="0" rtlCol="0" anchor="ctr"/>
          <a:lstStyle/>
          <a:p>
            <a:pPr marL="0" indent="0">
              <a:buNone/>
            </a:pPr>
            <a:r>
              <a:rPr lang="en-US" sz="2600" b="1" dirty="0">
                <a:solidFill>
                  <a:srgbClr val="0F2A43"/>
                </a:solidFill>
                <a:latin typeface="Cambria" pitchFamily="34" charset="0"/>
                <a:ea typeface="Cambria" pitchFamily="34" charset="-122"/>
                <a:cs typeface="Cambria" pitchFamily="34" charset="-120"/>
              </a:rPr>
              <a:t>Problem Definition</a:t>
            </a:r>
            <a:endParaRPr lang="en-US" sz="2600" dirty="0"/>
          </a:p>
        </p:txBody>
      </p:sp>
      <p:sp>
        <p:nvSpPr>
          <p:cNvPr id="3" name="Text 1"/>
          <p:cNvSpPr/>
          <p:nvPr/>
        </p:nvSpPr>
        <p:spPr>
          <a:xfrm>
            <a:off x="548640" y="914400"/>
            <a:ext cx="7315200" cy="36576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What tourists struggle with today</a:t>
            </a:r>
            <a:endParaRPr lang="en-US" sz="1300" dirty="0"/>
          </a:p>
        </p:txBody>
      </p:sp>
      <p:sp>
        <p:nvSpPr>
          <p:cNvPr id="4" name="Shape 2"/>
          <p:cNvSpPr/>
          <p:nvPr/>
        </p:nvSpPr>
        <p:spPr>
          <a:xfrm>
            <a:off x="548640" y="1463040"/>
            <a:ext cx="5440680" cy="1417320"/>
          </a:xfrm>
          <a:prstGeom prst="roundRect">
            <a:avLst>
              <a:gd name="adj" fmla="val 4516"/>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5" name="Text 3"/>
          <p:cNvSpPr/>
          <p:nvPr/>
        </p:nvSpPr>
        <p:spPr>
          <a:xfrm>
            <a:off x="777240" y="1581912"/>
            <a:ext cx="4983480" cy="365760"/>
          </a:xfrm>
          <a:prstGeom prst="rect">
            <a:avLst/>
          </a:prstGeom>
          <a:noFill/>
          <a:ln/>
        </p:spPr>
        <p:txBody>
          <a:bodyPr wrap="square" lIns="0" tIns="0" rIns="0" bIns="0" rtlCol="0" anchor="ctr"/>
          <a:lstStyle/>
          <a:p>
            <a:pPr marL="0" indent="0">
              <a:buNone/>
            </a:pPr>
            <a:r>
              <a:rPr lang="en-US" sz="1400" b="1" dirty="0">
                <a:solidFill>
                  <a:srgbClr val="0F2A43"/>
                </a:solidFill>
                <a:latin typeface="Calibri" pitchFamily="34" charset="0"/>
                <a:ea typeface="Calibri" pitchFamily="34" charset="-122"/>
                <a:cs typeface="Calibri" pitchFamily="34" charset="-120"/>
              </a:rPr>
              <a:t>Unlicensed &amp; Overpriced Guides</a:t>
            </a:r>
            <a:endParaRPr lang="en-US" sz="1400" dirty="0"/>
          </a:p>
        </p:txBody>
      </p:sp>
      <p:sp>
        <p:nvSpPr>
          <p:cNvPr id="6" name="Text 4"/>
          <p:cNvSpPr/>
          <p:nvPr/>
        </p:nvSpPr>
        <p:spPr>
          <a:xfrm>
            <a:off x="777240" y="1975104"/>
            <a:ext cx="4983480" cy="822960"/>
          </a:xfrm>
          <a:prstGeom prst="rect">
            <a:avLst/>
          </a:prstGeom>
          <a:noFill/>
          <a:ln/>
        </p:spPr>
        <p:txBody>
          <a:bodyPr wrap="square" lIns="0" tIns="0" rIns="0" bIns="0" rtlCol="0" anchor="ctr"/>
          <a:lstStyle/>
          <a:p>
            <a:pPr marL="0" indent="0">
              <a:lnSpc>
                <a:spcPct val="115000"/>
              </a:lnSpc>
              <a:buNone/>
            </a:pPr>
            <a:r>
              <a:rPr lang="en-US" sz="1150" dirty="0">
                <a:solidFill>
                  <a:srgbClr val="1E293B"/>
                </a:solidFill>
                <a:latin typeface="Calibri" pitchFamily="34" charset="0"/>
                <a:ea typeface="Calibri" pitchFamily="34" charset="-122"/>
                <a:cs typeface="Calibri" pitchFamily="34" charset="-120"/>
              </a:rPr>
              <a:t>Tourists risk scams from unverified guides charging inflated prices.</a:t>
            </a:r>
            <a:endParaRPr lang="en-US" sz="1150" dirty="0"/>
          </a:p>
        </p:txBody>
      </p:sp>
      <p:sp>
        <p:nvSpPr>
          <p:cNvPr id="7" name="Shape 5"/>
          <p:cNvSpPr/>
          <p:nvPr/>
        </p:nvSpPr>
        <p:spPr>
          <a:xfrm>
            <a:off x="6309360" y="1463040"/>
            <a:ext cx="5440680" cy="1417320"/>
          </a:xfrm>
          <a:prstGeom prst="roundRect">
            <a:avLst>
              <a:gd name="adj" fmla="val 4516"/>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8" name="Text 6"/>
          <p:cNvSpPr/>
          <p:nvPr/>
        </p:nvSpPr>
        <p:spPr>
          <a:xfrm>
            <a:off x="6537960" y="1581912"/>
            <a:ext cx="4983480" cy="365760"/>
          </a:xfrm>
          <a:prstGeom prst="rect">
            <a:avLst/>
          </a:prstGeom>
          <a:noFill/>
          <a:ln/>
        </p:spPr>
        <p:txBody>
          <a:bodyPr wrap="square" lIns="0" tIns="0" rIns="0" bIns="0" rtlCol="0" anchor="ctr"/>
          <a:lstStyle/>
          <a:p>
            <a:pPr marL="0" indent="0">
              <a:buNone/>
            </a:pPr>
            <a:r>
              <a:rPr lang="en-US" sz="1400" b="1" dirty="0">
                <a:solidFill>
                  <a:srgbClr val="0F2A43"/>
                </a:solidFill>
                <a:latin typeface="Calibri" pitchFamily="34" charset="0"/>
                <a:ea typeface="Calibri" pitchFamily="34" charset="-122"/>
                <a:cs typeface="Calibri" pitchFamily="34" charset="-120"/>
              </a:rPr>
              <a:t>Hidden Local Places</a:t>
            </a:r>
            <a:endParaRPr lang="en-US" sz="1400" dirty="0"/>
          </a:p>
        </p:txBody>
      </p:sp>
      <p:sp>
        <p:nvSpPr>
          <p:cNvPr id="9" name="Text 7"/>
          <p:cNvSpPr/>
          <p:nvPr/>
        </p:nvSpPr>
        <p:spPr>
          <a:xfrm>
            <a:off x="6537960" y="1975104"/>
            <a:ext cx="4983480" cy="822960"/>
          </a:xfrm>
          <a:prstGeom prst="rect">
            <a:avLst/>
          </a:prstGeom>
          <a:noFill/>
          <a:ln/>
        </p:spPr>
        <p:txBody>
          <a:bodyPr wrap="square" lIns="0" tIns="0" rIns="0" bIns="0" rtlCol="0" anchor="ctr"/>
          <a:lstStyle/>
          <a:p>
            <a:pPr marL="0" indent="0">
              <a:lnSpc>
                <a:spcPct val="115000"/>
              </a:lnSpc>
              <a:buNone/>
            </a:pPr>
            <a:r>
              <a:rPr lang="en-US" sz="1150" dirty="0">
                <a:solidFill>
                  <a:srgbClr val="1E293B"/>
                </a:solidFill>
                <a:latin typeface="Calibri" pitchFamily="34" charset="0"/>
                <a:ea typeface="Calibri" pitchFamily="34" charset="-122"/>
                <a:cs typeface="Calibri" pitchFamily="34" charset="-120"/>
              </a:rPr>
              <a:t>Beautiful village-side spots are missing from existing tourist platforms.</a:t>
            </a:r>
            <a:endParaRPr lang="en-US" sz="1150" dirty="0"/>
          </a:p>
        </p:txBody>
      </p:sp>
      <p:sp>
        <p:nvSpPr>
          <p:cNvPr id="10" name="Shape 8"/>
          <p:cNvSpPr/>
          <p:nvPr/>
        </p:nvSpPr>
        <p:spPr>
          <a:xfrm>
            <a:off x="548640" y="3154680"/>
            <a:ext cx="5440680" cy="1417320"/>
          </a:xfrm>
          <a:prstGeom prst="roundRect">
            <a:avLst>
              <a:gd name="adj" fmla="val 4516"/>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11" name="Text 9"/>
          <p:cNvSpPr/>
          <p:nvPr/>
        </p:nvSpPr>
        <p:spPr>
          <a:xfrm>
            <a:off x="777240" y="3273552"/>
            <a:ext cx="4983480" cy="365760"/>
          </a:xfrm>
          <a:prstGeom prst="rect">
            <a:avLst/>
          </a:prstGeom>
          <a:noFill/>
          <a:ln/>
        </p:spPr>
        <p:txBody>
          <a:bodyPr wrap="square" lIns="0" tIns="0" rIns="0" bIns="0" rtlCol="0" anchor="ctr"/>
          <a:lstStyle/>
          <a:p>
            <a:pPr marL="0" indent="0">
              <a:buNone/>
            </a:pPr>
            <a:r>
              <a:rPr lang="en-US" sz="1400" b="1" dirty="0">
                <a:solidFill>
                  <a:srgbClr val="0F2A43"/>
                </a:solidFill>
                <a:latin typeface="Calibri" pitchFamily="34" charset="0"/>
                <a:ea typeface="Calibri" pitchFamily="34" charset="-122"/>
                <a:cs typeface="Calibri" pitchFamily="34" charset="-120"/>
              </a:rPr>
              <a:t>Language Barriers</a:t>
            </a:r>
            <a:endParaRPr lang="en-US" sz="1400" dirty="0"/>
          </a:p>
        </p:txBody>
      </p:sp>
      <p:sp>
        <p:nvSpPr>
          <p:cNvPr id="12" name="Text 10"/>
          <p:cNvSpPr/>
          <p:nvPr/>
        </p:nvSpPr>
        <p:spPr>
          <a:xfrm>
            <a:off x="777240" y="3666744"/>
            <a:ext cx="4983480" cy="822960"/>
          </a:xfrm>
          <a:prstGeom prst="rect">
            <a:avLst/>
          </a:prstGeom>
          <a:noFill/>
          <a:ln/>
        </p:spPr>
        <p:txBody>
          <a:bodyPr wrap="square" lIns="0" tIns="0" rIns="0" bIns="0" rtlCol="0" anchor="ctr"/>
          <a:lstStyle/>
          <a:p>
            <a:pPr marL="0" indent="0">
              <a:lnSpc>
                <a:spcPct val="115000"/>
              </a:lnSpc>
              <a:buNone/>
            </a:pPr>
            <a:r>
              <a:rPr lang="en-US" sz="1150" dirty="0">
                <a:solidFill>
                  <a:srgbClr val="1E293B"/>
                </a:solidFill>
                <a:latin typeface="Calibri" pitchFamily="34" charset="0"/>
                <a:ea typeface="Calibri" pitchFamily="34" charset="-122"/>
                <a:cs typeface="Calibri" pitchFamily="34" charset="-120"/>
              </a:rPr>
              <a:t>Limited English on either side complicates bookings and communication.</a:t>
            </a:r>
            <a:endParaRPr lang="en-US" sz="1150" dirty="0"/>
          </a:p>
        </p:txBody>
      </p:sp>
      <p:sp>
        <p:nvSpPr>
          <p:cNvPr id="13" name="Shape 11"/>
          <p:cNvSpPr/>
          <p:nvPr/>
        </p:nvSpPr>
        <p:spPr>
          <a:xfrm>
            <a:off x="6309360" y="3154680"/>
            <a:ext cx="5440680" cy="1417320"/>
          </a:xfrm>
          <a:prstGeom prst="roundRect">
            <a:avLst>
              <a:gd name="adj" fmla="val 4516"/>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14" name="Text 12"/>
          <p:cNvSpPr/>
          <p:nvPr/>
        </p:nvSpPr>
        <p:spPr>
          <a:xfrm>
            <a:off x="6537960" y="3273552"/>
            <a:ext cx="4983480" cy="365760"/>
          </a:xfrm>
          <a:prstGeom prst="rect">
            <a:avLst/>
          </a:prstGeom>
          <a:noFill/>
          <a:ln/>
        </p:spPr>
        <p:txBody>
          <a:bodyPr wrap="square" lIns="0" tIns="0" rIns="0" bIns="0" rtlCol="0" anchor="ctr"/>
          <a:lstStyle/>
          <a:p>
            <a:pPr marL="0" indent="0">
              <a:buNone/>
            </a:pPr>
            <a:r>
              <a:rPr lang="en-US" sz="1400" b="1" dirty="0">
                <a:solidFill>
                  <a:srgbClr val="0F2A43"/>
                </a:solidFill>
                <a:latin typeface="Calibri" pitchFamily="34" charset="0"/>
                <a:ea typeface="Calibri" pitchFamily="34" charset="-122"/>
                <a:cs typeface="Calibri" pitchFamily="34" charset="-120"/>
              </a:rPr>
              <a:t>Transport Confusion</a:t>
            </a:r>
            <a:endParaRPr lang="en-US" sz="1400" dirty="0"/>
          </a:p>
        </p:txBody>
      </p:sp>
      <p:sp>
        <p:nvSpPr>
          <p:cNvPr id="15" name="Text 13"/>
          <p:cNvSpPr/>
          <p:nvPr/>
        </p:nvSpPr>
        <p:spPr>
          <a:xfrm>
            <a:off x="6537960" y="3666744"/>
            <a:ext cx="4983480" cy="822960"/>
          </a:xfrm>
          <a:prstGeom prst="rect">
            <a:avLst/>
          </a:prstGeom>
          <a:noFill/>
          <a:ln/>
        </p:spPr>
        <p:txBody>
          <a:bodyPr wrap="square" lIns="0" tIns="0" rIns="0" bIns="0" rtlCol="0" anchor="ctr"/>
          <a:lstStyle/>
          <a:p>
            <a:pPr marL="0" indent="0">
              <a:lnSpc>
                <a:spcPct val="115000"/>
              </a:lnSpc>
              <a:buNone/>
            </a:pPr>
            <a:r>
              <a:rPr lang="en-US" sz="1150" dirty="0">
                <a:solidFill>
                  <a:srgbClr val="1E293B"/>
                </a:solidFill>
                <a:latin typeface="Calibri" pitchFamily="34" charset="0"/>
                <a:ea typeface="Calibri" pitchFamily="34" charset="-122"/>
                <a:cs typeface="Calibri" pitchFamily="34" charset="-120"/>
              </a:rPr>
              <a:t>No clear way to understand routes or reliable transport options.</a:t>
            </a:r>
            <a:endParaRPr lang="en-US" sz="1150" dirty="0"/>
          </a:p>
        </p:txBody>
      </p:sp>
      <p:sp>
        <p:nvSpPr>
          <p:cNvPr id="16" name="Shape 14"/>
          <p:cNvSpPr/>
          <p:nvPr/>
        </p:nvSpPr>
        <p:spPr>
          <a:xfrm>
            <a:off x="548640" y="4846320"/>
            <a:ext cx="5440680" cy="1417320"/>
          </a:xfrm>
          <a:prstGeom prst="roundRect">
            <a:avLst>
              <a:gd name="adj" fmla="val 4516"/>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17" name="Text 15"/>
          <p:cNvSpPr/>
          <p:nvPr/>
        </p:nvSpPr>
        <p:spPr>
          <a:xfrm>
            <a:off x="777240" y="4965192"/>
            <a:ext cx="4983480" cy="365760"/>
          </a:xfrm>
          <a:prstGeom prst="rect">
            <a:avLst/>
          </a:prstGeom>
          <a:noFill/>
          <a:ln/>
        </p:spPr>
        <p:txBody>
          <a:bodyPr wrap="square" lIns="0" tIns="0" rIns="0" bIns="0" rtlCol="0" anchor="ctr"/>
          <a:lstStyle/>
          <a:p>
            <a:pPr marL="0" indent="0">
              <a:buNone/>
            </a:pPr>
            <a:r>
              <a:rPr lang="en-US" sz="1400" b="1" dirty="0">
                <a:solidFill>
                  <a:srgbClr val="0F2A43"/>
                </a:solidFill>
                <a:latin typeface="Calibri" pitchFamily="34" charset="0"/>
                <a:ea typeface="Calibri" pitchFamily="34" charset="-122"/>
                <a:cs typeface="Calibri" pitchFamily="34" charset="-120"/>
              </a:rPr>
              <a:t>Scattered Accommodation Info</a:t>
            </a:r>
            <a:endParaRPr lang="en-US" sz="1400" dirty="0"/>
          </a:p>
        </p:txBody>
      </p:sp>
      <p:sp>
        <p:nvSpPr>
          <p:cNvPr id="18" name="Text 16"/>
          <p:cNvSpPr/>
          <p:nvPr/>
        </p:nvSpPr>
        <p:spPr>
          <a:xfrm>
            <a:off x="777240" y="5358384"/>
            <a:ext cx="4983480" cy="822960"/>
          </a:xfrm>
          <a:prstGeom prst="rect">
            <a:avLst/>
          </a:prstGeom>
          <a:noFill/>
          <a:ln/>
        </p:spPr>
        <p:txBody>
          <a:bodyPr wrap="square" lIns="0" tIns="0" rIns="0" bIns="0" rtlCol="0" anchor="ctr"/>
          <a:lstStyle/>
          <a:p>
            <a:pPr marL="0" indent="0">
              <a:lnSpc>
                <a:spcPct val="115000"/>
              </a:lnSpc>
              <a:buNone/>
            </a:pPr>
            <a:r>
              <a:rPr lang="en-US" sz="1150" dirty="0">
                <a:solidFill>
                  <a:srgbClr val="1E293B"/>
                </a:solidFill>
                <a:latin typeface="Calibri" pitchFamily="34" charset="0"/>
                <a:ea typeface="Calibri" pitchFamily="34" charset="-122"/>
                <a:cs typeface="Calibri" pitchFamily="34" charset="-120"/>
              </a:rPr>
              <a:t>Hard to find trustworthy stays across many separate sites and apps.</a:t>
            </a:r>
            <a:endParaRPr lang="en-US" sz="1150" dirty="0"/>
          </a:p>
        </p:txBody>
      </p:sp>
      <p:sp>
        <p:nvSpPr>
          <p:cNvPr id="19" name="Shape 17"/>
          <p:cNvSpPr/>
          <p:nvPr/>
        </p:nvSpPr>
        <p:spPr>
          <a:xfrm>
            <a:off x="6309360" y="4846320"/>
            <a:ext cx="5440680" cy="1417320"/>
          </a:xfrm>
          <a:prstGeom prst="roundRect">
            <a:avLst>
              <a:gd name="adj" fmla="val 4516"/>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20" name="Text 18"/>
          <p:cNvSpPr/>
          <p:nvPr/>
        </p:nvSpPr>
        <p:spPr>
          <a:xfrm>
            <a:off x="6537960" y="4965192"/>
            <a:ext cx="4983480" cy="365760"/>
          </a:xfrm>
          <a:prstGeom prst="rect">
            <a:avLst/>
          </a:prstGeom>
          <a:noFill/>
          <a:ln/>
        </p:spPr>
        <p:txBody>
          <a:bodyPr wrap="square" lIns="0" tIns="0" rIns="0" bIns="0" rtlCol="0" anchor="ctr"/>
          <a:lstStyle/>
          <a:p>
            <a:pPr marL="0" indent="0">
              <a:buNone/>
            </a:pPr>
            <a:r>
              <a:rPr lang="en-US" sz="1400" b="1" dirty="0">
                <a:solidFill>
                  <a:srgbClr val="0F2A43"/>
                </a:solidFill>
                <a:latin typeface="Calibri" pitchFamily="34" charset="0"/>
                <a:ea typeface="Calibri" pitchFamily="34" charset="-122"/>
                <a:cs typeface="Calibri" pitchFamily="34" charset="-120"/>
              </a:rPr>
              <a:t>No Way to Find Local Experiences</a:t>
            </a:r>
            <a:endParaRPr lang="en-US" sz="1400" dirty="0"/>
          </a:p>
        </p:txBody>
      </p:sp>
      <p:sp>
        <p:nvSpPr>
          <p:cNvPr id="21" name="Text 19"/>
          <p:cNvSpPr/>
          <p:nvPr/>
        </p:nvSpPr>
        <p:spPr>
          <a:xfrm>
            <a:off x="6537960" y="5358384"/>
            <a:ext cx="4983480" cy="822960"/>
          </a:xfrm>
          <a:prstGeom prst="rect">
            <a:avLst/>
          </a:prstGeom>
          <a:noFill/>
          <a:ln/>
        </p:spPr>
        <p:txBody>
          <a:bodyPr wrap="square" lIns="0" tIns="0" rIns="0" bIns="0" rtlCol="0" anchor="ctr"/>
          <a:lstStyle/>
          <a:p>
            <a:pPr marL="0" indent="0">
              <a:lnSpc>
                <a:spcPct val="115000"/>
              </a:lnSpc>
              <a:buNone/>
            </a:pPr>
            <a:r>
              <a:rPr lang="en-US" sz="1150" dirty="0">
                <a:solidFill>
                  <a:srgbClr val="1E293B"/>
                </a:solidFill>
                <a:latin typeface="Calibri" pitchFamily="34" charset="0"/>
                <a:ea typeface="Calibri" pitchFamily="34" charset="-122"/>
                <a:cs typeface="Calibri" pitchFamily="34" charset="-120"/>
              </a:rPr>
              <a:t>Cultural and village experiences are nearly invisible without local contacts.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F2A43"/>
          </a:solidFill>
          <a:ln/>
        </p:spPr>
        <p:txBody>
          <a:bodyPr/>
          <a:lstStyle/>
          <a:p>
            <a:endParaRPr lang="en-US"/>
          </a:p>
        </p:txBody>
      </p:sp>
      <p:sp>
        <p:nvSpPr>
          <p:cNvPr id="3" name="Text 1"/>
          <p:cNvSpPr/>
          <p:nvPr/>
        </p:nvSpPr>
        <p:spPr>
          <a:xfrm>
            <a:off x="548640" y="256032"/>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Who Uses the Platform</a:t>
            </a:r>
            <a:endParaRPr lang="en-US" sz="2600" dirty="0"/>
          </a:p>
        </p:txBody>
      </p:sp>
      <p:sp>
        <p:nvSpPr>
          <p:cNvPr id="4" name="Text 2"/>
          <p:cNvSpPr/>
          <p:nvPr/>
        </p:nvSpPr>
        <p:spPr>
          <a:xfrm>
            <a:off x="548640" y="1280160"/>
            <a:ext cx="10058400" cy="36576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Six actor types interact with CeylonTourMate.lk, each with a distinct role:</a:t>
            </a:r>
            <a:endParaRPr lang="en-US" sz="1400" dirty="0"/>
          </a:p>
        </p:txBody>
      </p:sp>
      <p:sp>
        <p:nvSpPr>
          <p:cNvPr id="5" name="Shape 3"/>
          <p:cNvSpPr/>
          <p:nvPr/>
        </p:nvSpPr>
        <p:spPr>
          <a:xfrm>
            <a:off x="548640" y="1874520"/>
            <a:ext cx="3611880" cy="2103120"/>
          </a:xfrm>
          <a:prstGeom prst="roundRect">
            <a:avLst>
              <a:gd name="adj" fmla="val 3478"/>
            </a:avLst>
          </a:prstGeom>
          <a:solidFill>
            <a:srgbClr val="F4EDE1"/>
          </a:solidFill>
          <a:ln/>
          <a:effectLst>
            <a:outerShdw blurRad="101600" dist="38100" dir="2700000" algn="bl" rotWithShape="0">
              <a:srgbClr val="000000">
                <a:alpha val="12000"/>
              </a:srgbClr>
            </a:outerShdw>
          </a:effectLst>
        </p:spPr>
        <p:txBody>
          <a:bodyPr/>
          <a:lstStyle/>
          <a:p>
            <a:endParaRPr lang="en-US"/>
          </a:p>
        </p:txBody>
      </p:sp>
      <p:sp>
        <p:nvSpPr>
          <p:cNvPr id="6" name="Shape 4"/>
          <p:cNvSpPr/>
          <p:nvPr/>
        </p:nvSpPr>
        <p:spPr>
          <a:xfrm>
            <a:off x="804672" y="2130552"/>
            <a:ext cx="658368" cy="658368"/>
          </a:xfrm>
          <a:prstGeom prst="ellipse">
            <a:avLst/>
          </a:prstGeom>
          <a:solidFill>
            <a:srgbClr val="1C7293"/>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975848" y="2301728"/>
            <a:ext cx="316017" cy="316017"/>
          </a:xfrm>
          <a:prstGeom prst="rect">
            <a:avLst/>
          </a:prstGeom>
        </p:spPr>
      </p:pic>
      <p:sp>
        <p:nvSpPr>
          <p:cNvPr id="8" name="Text 5"/>
          <p:cNvSpPr/>
          <p:nvPr/>
        </p:nvSpPr>
        <p:spPr>
          <a:xfrm>
            <a:off x="1645920" y="2130552"/>
            <a:ext cx="2331720" cy="411480"/>
          </a:xfrm>
          <a:prstGeom prst="rect">
            <a:avLst/>
          </a:prstGeom>
          <a:noFill/>
          <a:ln/>
        </p:spPr>
        <p:txBody>
          <a:bodyPr wrap="square" lIns="0" tIns="0" rIns="0" bIns="0" rtlCol="0" anchor="ctr"/>
          <a:lstStyle/>
          <a:p>
            <a:pPr marL="0" indent="0">
              <a:buNone/>
            </a:pPr>
            <a:r>
              <a:rPr lang="en-US" sz="1550" b="1" dirty="0">
                <a:solidFill>
                  <a:srgbClr val="0F2A43"/>
                </a:solidFill>
                <a:latin typeface="Calibri" pitchFamily="34" charset="0"/>
                <a:ea typeface="Calibri" pitchFamily="34" charset="-122"/>
                <a:cs typeface="Calibri" pitchFamily="34" charset="-120"/>
              </a:rPr>
              <a:t>Tourist</a:t>
            </a:r>
            <a:endParaRPr lang="en-US" sz="1550" dirty="0"/>
          </a:p>
        </p:txBody>
      </p:sp>
      <p:sp>
        <p:nvSpPr>
          <p:cNvPr id="9" name="Text 6"/>
          <p:cNvSpPr/>
          <p:nvPr/>
        </p:nvSpPr>
        <p:spPr>
          <a:xfrm>
            <a:off x="804672" y="2926080"/>
            <a:ext cx="3099816" cy="914400"/>
          </a:xfrm>
          <a:prstGeom prst="rect">
            <a:avLst/>
          </a:prstGeom>
          <a:noFill/>
          <a:ln/>
        </p:spPr>
        <p:txBody>
          <a:bodyPr wrap="square" lIns="0" tIns="0" rIns="0" bIns="0" rtlCol="0" anchor="ctr"/>
          <a:lstStyle/>
          <a:p>
            <a:pPr marL="0" indent="0">
              <a:lnSpc>
                <a:spcPct val="120000"/>
              </a:lnSpc>
              <a:buNone/>
            </a:pPr>
            <a:r>
              <a:rPr lang="en-US" sz="1150" dirty="0">
                <a:solidFill>
                  <a:srgbClr val="1E293B"/>
                </a:solidFill>
                <a:latin typeface="Calibri" pitchFamily="34" charset="0"/>
                <a:ea typeface="Calibri" pitchFamily="34" charset="-122"/>
                <a:cs typeface="Calibri" pitchFamily="34" charset="-120"/>
              </a:rPr>
              <a:t>Searches, books, pays, and reviews services</a:t>
            </a:r>
            <a:endParaRPr lang="en-US" sz="1150" dirty="0"/>
          </a:p>
        </p:txBody>
      </p:sp>
      <p:sp>
        <p:nvSpPr>
          <p:cNvPr id="10" name="Shape 7"/>
          <p:cNvSpPr/>
          <p:nvPr/>
        </p:nvSpPr>
        <p:spPr>
          <a:xfrm>
            <a:off x="4389120" y="1874520"/>
            <a:ext cx="3611880" cy="2103120"/>
          </a:xfrm>
          <a:prstGeom prst="roundRect">
            <a:avLst>
              <a:gd name="adj" fmla="val 3478"/>
            </a:avLst>
          </a:prstGeom>
          <a:solidFill>
            <a:srgbClr val="F4EDE1"/>
          </a:solidFill>
          <a:ln/>
          <a:effectLst>
            <a:outerShdw blurRad="101600" dist="38100" dir="2700000" algn="bl" rotWithShape="0">
              <a:srgbClr val="000000">
                <a:alpha val="12000"/>
              </a:srgbClr>
            </a:outerShdw>
          </a:effectLst>
        </p:spPr>
        <p:txBody>
          <a:bodyPr/>
          <a:lstStyle/>
          <a:p>
            <a:endParaRPr lang="en-US"/>
          </a:p>
        </p:txBody>
      </p:sp>
      <p:sp>
        <p:nvSpPr>
          <p:cNvPr id="11" name="Shape 8"/>
          <p:cNvSpPr/>
          <p:nvPr/>
        </p:nvSpPr>
        <p:spPr>
          <a:xfrm>
            <a:off x="4645152" y="2130552"/>
            <a:ext cx="658368" cy="658368"/>
          </a:xfrm>
          <a:prstGeom prst="ellipse">
            <a:avLst/>
          </a:prstGeom>
          <a:solidFill>
            <a:srgbClr val="0F2A43"/>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816328" y="2301728"/>
            <a:ext cx="316017" cy="316017"/>
          </a:xfrm>
          <a:prstGeom prst="rect">
            <a:avLst/>
          </a:prstGeom>
        </p:spPr>
      </p:pic>
      <p:sp>
        <p:nvSpPr>
          <p:cNvPr id="13" name="Text 9"/>
          <p:cNvSpPr/>
          <p:nvPr/>
        </p:nvSpPr>
        <p:spPr>
          <a:xfrm>
            <a:off x="5486400" y="2130552"/>
            <a:ext cx="2331720" cy="411480"/>
          </a:xfrm>
          <a:prstGeom prst="rect">
            <a:avLst/>
          </a:prstGeom>
          <a:noFill/>
          <a:ln/>
        </p:spPr>
        <p:txBody>
          <a:bodyPr wrap="square" lIns="0" tIns="0" rIns="0" bIns="0" rtlCol="0" anchor="ctr"/>
          <a:lstStyle/>
          <a:p>
            <a:pPr marL="0" indent="0">
              <a:buNone/>
            </a:pPr>
            <a:r>
              <a:rPr lang="en-US" sz="1550" b="1" dirty="0">
                <a:solidFill>
                  <a:srgbClr val="0F2A43"/>
                </a:solidFill>
                <a:latin typeface="Calibri" pitchFamily="34" charset="0"/>
                <a:ea typeface="Calibri" pitchFamily="34" charset="-122"/>
                <a:cs typeface="Calibri" pitchFamily="34" charset="-120"/>
              </a:rPr>
              <a:t>Admin</a:t>
            </a:r>
            <a:endParaRPr lang="en-US" sz="1550" dirty="0"/>
          </a:p>
        </p:txBody>
      </p:sp>
      <p:sp>
        <p:nvSpPr>
          <p:cNvPr id="14" name="Text 10"/>
          <p:cNvSpPr/>
          <p:nvPr/>
        </p:nvSpPr>
        <p:spPr>
          <a:xfrm>
            <a:off x="4645152" y="2926080"/>
            <a:ext cx="3099816" cy="914400"/>
          </a:xfrm>
          <a:prstGeom prst="rect">
            <a:avLst/>
          </a:prstGeom>
          <a:noFill/>
          <a:ln/>
        </p:spPr>
        <p:txBody>
          <a:bodyPr wrap="square" lIns="0" tIns="0" rIns="0" bIns="0" rtlCol="0" anchor="ctr"/>
          <a:lstStyle/>
          <a:p>
            <a:pPr marL="0" indent="0">
              <a:lnSpc>
                <a:spcPct val="120000"/>
              </a:lnSpc>
              <a:buNone/>
            </a:pPr>
            <a:r>
              <a:rPr lang="en-US" sz="1150" dirty="0">
                <a:solidFill>
                  <a:srgbClr val="1E293B"/>
                </a:solidFill>
                <a:latin typeface="Calibri" pitchFamily="34" charset="0"/>
                <a:ea typeface="Calibri" pitchFamily="34" charset="-122"/>
                <a:cs typeface="Calibri" pitchFamily="34" charset="-120"/>
              </a:rPr>
              <a:t>Approves partners, manages users, sets commission</a:t>
            </a:r>
            <a:endParaRPr lang="en-US" sz="1150" dirty="0"/>
          </a:p>
        </p:txBody>
      </p:sp>
      <p:sp>
        <p:nvSpPr>
          <p:cNvPr id="15" name="Shape 11"/>
          <p:cNvSpPr/>
          <p:nvPr/>
        </p:nvSpPr>
        <p:spPr>
          <a:xfrm>
            <a:off x="8229600" y="1874520"/>
            <a:ext cx="3611880" cy="2103120"/>
          </a:xfrm>
          <a:prstGeom prst="roundRect">
            <a:avLst>
              <a:gd name="adj" fmla="val 3478"/>
            </a:avLst>
          </a:prstGeom>
          <a:solidFill>
            <a:srgbClr val="F4EDE1"/>
          </a:solidFill>
          <a:ln/>
          <a:effectLst>
            <a:outerShdw blurRad="101600" dist="38100" dir="2700000" algn="bl" rotWithShape="0">
              <a:srgbClr val="000000">
                <a:alpha val="12000"/>
              </a:srgbClr>
            </a:outerShdw>
          </a:effectLst>
        </p:spPr>
        <p:txBody>
          <a:bodyPr/>
          <a:lstStyle/>
          <a:p>
            <a:endParaRPr lang="en-US"/>
          </a:p>
        </p:txBody>
      </p:sp>
      <p:sp>
        <p:nvSpPr>
          <p:cNvPr id="16" name="Shape 12"/>
          <p:cNvSpPr/>
          <p:nvPr/>
        </p:nvSpPr>
        <p:spPr>
          <a:xfrm>
            <a:off x="8485632" y="2130552"/>
            <a:ext cx="658368" cy="658368"/>
          </a:xfrm>
          <a:prstGeom prst="ellipse">
            <a:avLst/>
          </a:prstGeom>
          <a:solidFill>
            <a:srgbClr val="65B89C"/>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8656808" y="2301728"/>
            <a:ext cx="316017" cy="316017"/>
          </a:xfrm>
          <a:prstGeom prst="rect">
            <a:avLst/>
          </a:prstGeom>
        </p:spPr>
      </p:pic>
      <p:sp>
        <p:nvSpPr>
          <p:cNvPr id="18" name="Text 13"/>
          <p:cNvSpPr/>
          <p:nvPr/>
        </p:nvSpPr>
        <p:spPr>
          <a:xfrm>
            <a:off x="9326880" y="2130552"/>
            <a:ext cx="2331720" cy="411480"/>
          </a:xfrm>
          <a:prstGeom prst="rect">
            <a:avLst/>
          </a:prstGeom>
          <a:noFill/>
          <a:ln/>
        </p:spPr>
        <p:txBody>
          <a:bodyPr wrap="square" lIns="0" tIns="0" rIns="0" bIns="0" rtlCol="0" anchor="ctr"/>
          <a:lstStyle/>
          <a:p>
            <a:pPr marL="0" indent="0">
              <a:buNone/>
            </a:pPr>
            <a:r>
              <a:rPr lang="en-US" sz="1550" b="1" dirty="0">
                <a:solidFill>
                  <a:srgbClr val="0F2A43"/>
                </a:solidFill>
                <a:latin typeface="Calibri" pitchFamily="34" charset="0"/>
                <a:ea typeface="Calibri" pitchFamily="34" charset="-122"/>
                <a:cs typeface="Calibri" pitchFamily="34" charset="-120"/>
              </a:rPr>
              <a:t>Tour Guide</a:t>
            </a:r>
            <a:endParaRPr lang="en-US" sz="1550" dirty="0"/>
          </a:p>
        </p:txBody>
      </p:sp>
      <p:sp>
        <p:nvSpPr>
          <p:cNvPr id="19" name="Text 14"/>
          <p:cNvSpPr/>
          <p:nvPr/>
        </p:nvSpPr>
        <p:spPr>
          <a:xfrm>
            <a:off x="8485632" y="2926080"/>
            <a:ext cx="3099816" cy="914400"/>
          </a:xfrm>
          <a:prstGeom prst="rect">
            <a:avLst/>
          </a:prstGeom>
          <a:noFill/>
          <a:ln/>
        </p:spPr>
        <p:txBody>
          <a:bodyPr wrap="square" lIns="0" tIns="0" rIns="0" bIns="0" rtlCol="0" anchor="ctr"/>
          <a:lstStyle/>
          <a:p>
            <a:pPr marL="0" indent="0">
              <a:lnSpc>
                <a:spcPct val="120000"/>
              </a:lnSpc>
              <a:buNone/>
            </a:pPr>
            <a:r>
              <a:rPr lang="en-US" sz="1150" dirty="0">
                <a:solidFill>
                  <a:srgbClr val="1E293B"/>
                </a:solidFill>
                <a:latin typeface="Calibri" pitchFamily="34" charset="0"/>
                <a:ea typeface="Calibri" pitchFamily="34" charset="-122"/>
                <a:cs typeface="Calibri" pitchFamily="34" charset="-120"/>
              </a:rPr>
              <a:t>Lists guiding services, manages bookings</a:t>
            </a:r>
            <a:endParaRPr lang="en-US" sz="1150" dirty="0"/>
          </a:p>
        </p:txBody>
      </p:sp>
      <p:sp>
        <p:nvSpPr>
          <p:cNvPr id="20" name="Shape 15"/>
          <p:cNvSpPr/>
          <p:nvPr/>
        </p:nvSpPr>
        <p:spPr>
          <a:xfrm>
            <a:off x="548640" y="4251960"/>
            <a:ext cx="3611880" cy="2103120"/>
          </a:xfrm>
          <a:prstGeom prst="roundRect">
            <a:avLst>
              <a:gd name="adj" fmla="val 3478"/>
            </a:avLst>
          </a:prstGeom>
          <a:solidFill>
            <a:srgbClr val="F4EDE1"/>
          </a:solidFill>
          <a:ln/>
          <a:effectLst>
            <a:outerShdw blurRad="101600" dist="38100" dir="2700000" algn="bl" rotWithShape="0">
              <a:srgbClr val="000000">
                <a:alpha val="12000"/>
              </a:srgbClr>
            </a:outerShdw>
          </a:effectLst>
        </p:spPr>
        <p:txBody>
          <a:bodyPr/>
          <a:lstStyle/>
          <a:p>
            <a:endParaRPr lang="en-US"/>
          </a:p>
        </p:txBody>
      </p:sp>
      <p:sp>
        <p:nvSpPr>
          <p:cNvPr id="21" name="Shape 16"/>
          <p:cNvSpPr/>
          <p:nvPr/>
        </p:nvSpPr>
        <p:spPr>
          <a:xfrm>
            <a:off x="804672" y="4507992"/>
            <a:ext cx="658368" cy="658368"/>
          </a:xfrm>
          <a:prstGeom prst="ellipse">
            <a:avLst/>
          </a:prstGeom>
          <a:solidFill>
            <a:srgbClr val="0E3B5C"/>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975848" y="4679168"/>
            <a:ext cx="316017" cy="316017"/>
          </a:xfrm>
          <a:prstGeom prst="rect">
            <a:avLst/>
          </a:prstGeom>
        </p:spPr>
      </p:pic>
      <p:sp>
        <p:nvSpPr>
          <p:cNvPr id="23" name="Text 17"/>
          <p:cNvSpPr/>
          <p:nvPr/>
        </p:nvSpPr>
        <p:spPr>
          <a:xfrm>
            <a:off x="1645920" y="4507992"/>
            <a:ext cx="2331720" cy="411480"/>
          </a:xfrm>
          <a:prstGeom prst="rect">
            <a:avLst/>
          </a:prstGeom>
          <a:noFill/>
          <a:ln/>
        </p:spPr>
        <p:txBody>
          <a:bodyPr wrap="square" lIns="0" tIns="0" rIns="0" bIns="0" rtlCol="0" anchor="ctr"/>
          <a:lstStyle/>
          <a:p>
            <a:pPr marL="0" indent="0">
              <a:buNone/>
            </a:pPr>
            <a:r>
              <a:rPr lang="en-US" sz="1550" b="1" dirty="0">
                <a:solidFill>
                  <a:srgbClr val="0F2A43"/>
                </a:solidFill>
                <a:latin typeface="Calibri" pitchFamily="34" charset="0"/>
                <a:ea typeface="Calibri" pitchFamily="34" charset="-122"/>
                <a:cs typeface="Calibri" pitchFamily="34" charset="-120"/>
              </a:rPr>
              <a:t>Shop Owner</a:t>
            </a:r>
            <a:endParaRPr lang="en-US" sz="1550" dirty="0"/>
          </a:p>
        </p:txBody>
      </p:sp>
      <p:sp>
        <p:nvSpPr>
          <p:cNvPr id="24" name="Text 18"/>
          <p:cNvSpPr/>
          <p:nvPr/>
        </p:nvSpPr>
        <p:spPr>
          <a:xfrm>
            <a:off x="804672" y="5303520"/>
            <a:ext cx="3099816" cy="914400"/>
          </a:xfrm>
          <a:prstGeom prst="rect">
            <a:avLst/>
          </a:prstGeom>
          <a:noFill/>
          <a:ln/>
        </p:spPr>
        <p:txBody>
          <a:bodyPr wrap="square" lIns="0" tIns="0" rIns="0" bIns="0" rtlCol="0" anchor="ctr"/>
          <a:lstStyle/>
          <a:p>
            <a:pPr marL="0" indent="0">
              <a:lnSpc>
                <a:spcPct val="120000"/>
              </a:lnSpc>
              <a:buNone/>
            </a:pPr>
            <a:r>
              <a:rPr lang="en-US" sz="1150" dirty="0">
                <a:solidFill>
                  <a:srgbClr val="1E293B"/>
                </a:solidFill>
                <a:latin typeface="Calibri" pitchFamily="34" charset="0"/>
                <a:ea typeface="Calibri" pitchFamily="34" charset="-122"/>
                <a:cs typeface="Calibri" pitchFamily="34" charset="-120"/>
              </a:rPr>
              <a:t>Lists shop, pays a flat monthly listing fee</a:t>
            </a:r>
            <a:endParaRPr lang="en-US" sz="1150" dirty="0"/>
          </a:p>
        </p:txBody>
      </p:sp>
      <p:sp>
        <p:nvSpPr>
          <p:cNvPr id="25" name="Shape 19"/>
          <p:cNvSpPr/>
          <p:nvPr/>
        </p:nvSpPr>
        <p:spPr>
          <a:xfrm>
            <a:off x="4389120" y="4251960"/>
            <a:ext cx="3611880" cy="2103120"/>
          </a:xfrm>
          <a:prstGeom prst="roundRect">
            <a:avLst>
              <a:gd name="adj" fmla="val 3478"/>
            </a:avLst>
          </a:prstGeom>
          <a:solidFill>
            <a:srgbClr val="F4EDE1"/>
          </a:solidFill>
          <a:ln/>
          <a:effectLst>
            <a:outerShdw blurRad="101600" dist="38100" dir="2700000" algn="bl" rotWithShape="0">
              <a:srgbClr val="000000">
                <a:alpha val="12000"/>
              </a:srgbClr>
            </a:outerShdw>
          </a:effectLst>
        </p:spPr>
        <p:txBody>
          <a:bodyPr/>
          <a:lstStyle/>
          <a:p>
            <a:endParaRPr lang="en-US"/>
          </a:p>
        </p:txBody>
      </p:sp>
      <p:sp>
        <p:nvSpPr>
          <p:cNvPr id="26" name="Shape 20"/>
          <p:cNvSpPr/>
          <p:nvPr/>
        </p:nvSpPr>
        <p:spPr>
          <a:xfrm>
            <a:off x="4645152" y="4507992"/>
            <a:ext cx="658368" cy="658368"/>
          </a:xfrm>
          <a:prstGeom prst="ellipse">
            <a:avLst/>
          </a:prstGeom>
          <a:solidFill>
            <a:srgbClr val="1C7293"/>
          </a:solidFill>
          <a:ln/>
        </p:spPr>
        <p:txBody>
          <a:bodyPr/>
          <a:lstStyle/>
          <a:p>
            <a:endParaRPr lang="en-US"/>
          </a:p>
        </p:txBody>
      </p:sp>
      <p:pic>
        <p:nvPicPr>
          <p:cNvPr id="27" name="Image 4" descr="preencoded.png"/>
          <p:cNvPicPr>
            <a:picLocks noChangeAspect="1"/>
          </p:cNvPicPr>
          <p:nvPr/>
        </p:nvPicPr>
        <p:blipFill>
          <a:blip r:embed="rId7"/>
          <a:stretch>
            <a:fillRect/>
          </a:stretch>
        </p:blipFill>
        <p:spPr>
          <a:xfrm>
            <a:off x="4816328" y="4679168"/>
            <a:ext cx="316017" cy="316017"/>
          </a:xfrm>
          <a:prstGeom prst="rect">
            <a:avLst/>
          </a:prstGeom>
        </p:spPr>
      </p:pic>
      <p:sp>
        <p:nvSpPr>
          <p:cNvPr id="28" name="Text 21"/>
          <p:cNvSpPr/>
          <p:nvPr/>
        </p:nvSpPr>
        <p:spPr>
          <a:xfrm>
            <a:off x="5486400" y="4507992"/>
            <a:ext cx="2331720" cy="411480"/>
          </a:xfrm>
          <a:prstGeom prst="rect">
            <a:avLst/>
          </a:prstGeom>
          <a:noFill/>
          <a:ln/>
        </p:spPr>
        <p:txBody>
          <a:bodyPr wrap="square" lIns="0" tIns="0" rIns="0" bIns="0" rtlCol="0" anchor="ctr"/>
          <a:lstStyle/>
          <a:p>
            <a:pPr marL="0" indent="0">
              <a:buNone/>
            </a:pPr>
            <a:r>
              <a:rPr lang="en-US" sz="1550" b="1" dirty="0">
                <a:solidFill>
                  <a:srgbClr val="0F2A43"/>
                </a:solidFill>
                <a:latin typeface="Calibri" pitchFamily="34" charset="0"/>
                <a:ea typeface="Calibri" pitchFamily="34" charset="-122"/>
                <a:cs typeface="Calibri" pitchFamily="34" charset="-120"/>
              </a:rPr>
              <a:t>Hotel Owner</a:t>
            </a:r>
            <a:endParaRPr lang="en-US" sz="1550" dirty="0"/>
          </a:p>
        </p:txBody>
      </p:sp>
      <p:sp>
        <p:nvSpPr>
          <p:cNvPr id="29" name="Text 22"/>
          <p:cNvSpPr/>
          <p:nvPr/>
        </p:nvSpPr>
        <p:spPr>
          <a:xfrm>
            <a:off x="4645152" y="5303520"/>
            <a:ext cx="3099816" cy="914400"/>
          </a:xfrm>
          <a:prstGeom prst="rect">
            <a:avLst/>
          </a:prstGeom>
          <a:noFill/>
          <a:ln/>
        </p:spPr>
        <p:txBody>
          <a:bodyPr wrap="square" lIns="0" tIns="0" rIns="0" bIns="0" rtlCol="0" anchor="ctr"/>
          <a:lstStyle/>
          <a:p>
            <a:pPr marL="0" indent="0">
              <a:lnSpc>
                <a:spcPct val="120000"/>
              </a:lnSpc>
              <a:buNone/>
            </a:pPr>
            <a:r>
              <a:rPr lang="en-US" sz="1150" dirty="0">
                <a:solidFill>
                  <a:srgbClr val="1E293B"/>
                </a:solidFill>
                <a:latin typeface="Calibri" pitchFamily="34" charset="0"/>
                <a:ea typeface="Calibri" pitchFamily="34" charset="-122"/>
                <a:cs typeface="Calibri" pitchFamily="34" charset="-120"/>
              </a:rPr>
              <a:t>Lists rooms, manages availability &amp; bookings</a:t>
            </a:r>
            <a:endParaRPr lang="en-US" sz="1150" dirty="0"/>
          </a:p>
        </p:txBody>
      </p:sp>
      <p:sp>
        <p:nvSpPr>
          <p:cNvPr id="30" name="Shape 23"/>
          <p:cNvSpPr/>
          <p:nvPr/>
        </p:nvSpPr>
        <p:spPr>
          <a:xfrm>
            <a:off x="8229600" y="4251960"/>
            <a:ext cx="3611880" cy="2103120"/>
          </a:xfrm>
          <a:prstGeom prst="roundRect">
            <a:avLst>
              <a:gd name="adj" fmla="val 3478"/>
            </a:avLst>
          </a:prstGeom>
          <a:solidFill>
            <a:srgbClr val="F4EDE1"/>
          </a:solidFill>
          <a:ln/>
          <a:effectLst>
            <a:outerShdw blurRad="101600" dist="38100" dir="2700000" algn="bl" rotWithShape="0">
              <a:srgbClr val="000000">
                <a:alpha val="12000"/>
              </a:srgbClr>
            </a:outerShdw>
          </a:effectLst>
        </p:spPr>
        <p:txBody>
          <a:bodyPr/>
          <a:lstStyle/>
          <a:p>
            <a:endParaRPr lang="en-US"/>
          </a:p>
        </p:txBody>
      </p:sp>
      <p:sp>
        <p:nvSpPr>
          <p:cNvPr id="31" name="Shape 24"/>
          <p:cNvSpPr/>
          <p:nvPr/>
        </p:nvSpPr>
        <p:spPr>
          <a:xfrm>
            <a:off x="8485632" y="4507992"/>
            <a:ext cx="658368" cy="658368"/>
          </a:xfrm>
          <a:prstGeom prst="ellipse">
            <a:avLst/>
          </a:prstGeom>
          <a:solidFill>
            <a:srgbClr val="65B89C"/>
          </a:solidFill>
          <a:ln/>
        </p:spPr>
        <p:txBody>
          <a:bodyPr/>
          <a:lstStyle/>
          <a:p>
            <a:endParaRPr lang="en-US"/>
          </a:p>
        </p:txBody>
      </p:sp>
      <p:pic>
        <p:nvPicPr>
          <p:cNvPr id="32" name="Image 5" descr="preencoded.png"/>
          <p:cNvPicPr>
            <a:picLocks noChangeAspect="1"/>
          </p:cNvPicPr>
          <p:nvPr/>
        </p:nvPicPr>
        <p:blipFill>
          <a:blip r:embed="rId8"/>
          <a:stretch>
            <a:fillRect/>
          </a:stretch>
        </p:blipFill>
        <p:spPr>
          <a:xfrm>
            <a:off x="8656808" y="4679168"/>
            <a:ext cx="316017" cy="316017"/>
          </a:xfrm>
          <a:prstGeom prst="rect">
            <a:avLst/>
          </a:prstGeom>
        </p:spPr>
      </p:pic>
      <p:sp>
        <p:nvSpPr>
          <p:cNvPr id="33" name="Text 25"/>
          <p:cNvSpPr/>
          <p:nvPr/>
        </p:nvSpPr>
        <p:spPr>
          <a:xfrm>
            <a:off x="9326880" y="4507992"/>
            <a:ext cx="2331720" cy="411480"/>
          </a:xfrm>
          <a:prstGeom prst="rect">
            <a:avLst/>
          </a:prstGeom>
          <a:noFill/>
          <a:ln/>
        </p:spPr>
        <p:txBody>
          <a:bodyPr wrap="square" lIns="0" tIns="0" rIns="0" bIns="0" rtlCol="0" anchor="ctr"/>
          <a:lstStyle/>
          <a:p>
            <a:pPr marL="0" indent="0">
              <a:buNone/>
            </a:pPr>
            <a:r>
              <a:rPr lang="en-US" sz="1550" b="1" dirty="0">
                <a:solidFill>
                  <a:srgbClr val="0F2A43"/>
                </a:solidFill>
                <a:latin typeface="Calibri" pitchFamily="34" charset="0"/>
                <a:ea typeface="Calibri" pitchFamily="34" charset="-122"/>
                <a:cs typeface="Calibri" pitchFamily="34" charset="-120"/>
              </a:rPr>
              <a:t>Experience Provider</a:t>
            </a:r>
            <a:endParaRPr lang="en-US" sz="1550" dirty="0"/>
          </a:p>
        </p:txBody>
      </p:sp>
      <p:sp>
        <p:nvSpPr>
          <p:cNvPr id="34" name="Text 26"/>
          <p:cNvSpPr/>
          <p:nvPr/>
        </p:nvSpPr>
        <p:spPr>
          <a:xfrm>
            <a:off x="8485632" y="5303520"/>
            <a:ext cx="3099816" cy="914400"/>
          </a:xfrm>
          <a:prstGeom prst="rect">
            <a:avLst/>
          </a:prstGeom>
          <a:noFill/>
          <a:ln/>
        </p:spPr>
        <p:txBody>
          <a:bodyPr wrap="square" lIns="0" tIns="0" rIns="0" bIns="0" rtlCol="0" anchor="ctr"/>
          <a:lstStyle/>
          <a:p>
            <a:pPr marL="0" indent="0">
              <a:lnSpc>
                <a:spcPct val="120000"/>
              </a:lnSpc>
              <a:buNone/>
            </a:pPr>
            <a:r>
              <a:rPr lang="en-US" sz="1150" dirty="0">
                <a:solidFill>
                  <a:srgbClr val="1E293B"/>
                </a:solidFill>
                <a:latin typeface="Calibri" pitchFamily="34" charset="0"/>
                <a:ea typeface="Calibri" pitchFamily="34" charset="-122"/>
                <a:cs typeface="Calibri" pitchFamily="34" charset="-120"/>
              </a:rPr>
              <a:t>Lists cultural/local experiences, manages bookings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EDE1"/>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lIns="0" tIns="0" rIns="0" bIns="0" rtlCol="0" anchor="ctr"/>
          <a:lstStyle/>
          <a:p>
            <a:pPr marL="0" indent="0">
              <a:buNone/>
            </a:pPr>
            <a:r>
              <a:rPr lang="en-US" sz="2600" b="1" dirty="0">
                <a:solidFill>
                  <a:srgbClr val="0F2A43"/>
                </a:solidFill>
                <a:latin typeface="Cambria" pitchFamily="34" charset="0"/>
                <a:ea typeface="Cambria" pitchFamily="34" charset="-122"/>
                <a:cs typeface="Cambria" pitchFamily="34" charset="-120"/>
              </a:rPr>
              <a:t>Core Business Logic</a:t>
            </a:r>
            <a:endParaRPr lang="en-US" sz="2600" dirty="0"/>
          </a:p>
        </p:txBody>
      </p:sp>
      <p:sp>
        <p:nvSpPr>
          <p:cNvPr id="3" name="Text 1"/>
          <p:cNvSpPr/>
          <p:nvPr/>
        </p:nvSpPr>
        <p:spPr>
          <a:xfrm>
            <a:off x="548640" y="914400"/>
            <a:ext cx="7315200" cy="36576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How bookings, payments and revenue work</a:t>
            </a:r>
            <a:endParaRPr lang="en-US" sz="1300" dirty="0"/>
          </a:p>
        </p:txBody>
      </p:sp>
      <p:sp>
        <p:nvSpPr>
          <p:cNvPr id="4" name="Shape 2"/>
          <p:cNvSpPr/>
          <p:nvPr/>
        </p:nvSpPr>
        <p:spPr>
          <a:xfrm>
            <a:off x="548640" y="1508760"/>
            <a:ext cx="502920" cy="502920"/>
          </a:xfrm>
          <a:prstGeom prst="ellipse">
            <a:avLst/>
          </a:prstGeom>
          <a:solidFill>
            <a:srgbClr val="0F2A43"/>
          </a:solidFill>
          <a:ln/>
        </p:spPr>
        <p:txBody>
          <a:bodyPr/>
          <a:lstStyle/>
          <a:p>
            <a:endParaRPr lang="en-US"/>
          </a:p>
        </p:txBody>
      </p:sp>
      <p:sp>
        <p:nvSpPr>
          <p:cNvPr id="5" name="Text 3"/>
          <p:cNvSpPr/>
          <p:nvPr/>
        </p:nvSpPr>
        <p:spPr>
          <a:xfrm>
            <a:off x="548640" y="15087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6" name="Shape 4"/>
          <p:cNvSpPr/>
          <p:nvPr/>
        </p:nvSpPr>
        <p:spPr>
          <a:xfrm>
            <a:off x="1234440" y="1463040"/>
            <a:ext cx="10378440" cy="777240"/>
          </a:xfrm>
          <a:prstGeom prst="roundRect">
            <a:avLst>
              <a:gd name="adj" fmla="val 7059"/>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7" name="Text 5"/>
          <p:cNvSpPr/>
          <p:nvPr/>
        </p:nvSpPr>
        <p:spPr>
          <a:xfrm>
            <a:off x="1508760" y="1463040"/>
            <a:ext cx="3291840" cy="777240"/>
          </a:xfrm>
          <a:prstGeom prst="rect">
            <a:avLst/>
          </a:prstGeom>
          <a:noFill/>
          <a:ln/>
        </p:spPr>
        <p:txBody>
          <a:bodyPr wrap="square" lIns="0" tIns="0" rIns="0" bIns="0" rtlCol="0" anchor="ctr"/>
          <a:lstStyle/>
          <a:p>
            <a:pPr marL="0" indent="0">
              <a:buNone/>
            </a:pPr>
            <a:r>
              <a:rPr lang="en-US" sz="1350" b="1" dirty="0">
                <a:solidFill>
                  <a:srgbClr val="0F2A43"/>
                </a:solidFill>
                <a:latin typeface="Calibri" pitchFamily="34" charset="0"/>
                <a:ea typeface="Calibri" pitchFamily="34" charset="-122"/>
                <a:cs typeface="Calibri" pitchFamily="34" charset="-120"/>
              </a:rPr>
              <a:t>Tourist books a service</a:t>
            </a:r>
            <a:endParaRPr lang="en-US" sz="1350" dirty="0"/>
          </a:p>
        </p:txBody>
      </p:sp>
      <p:sp>
        <p:nvSpPr>
          <p:cNvPr id="8" name="Text 6"/>
          <p:cNvSpPr/>
          <p:nvPr/>
        </p:nvSpPr>
        <p:spPr>
          <a:xfrm>
            <a:off x="4937760" y="1463040"/>
            <a:ext cx="6400800" cy="777240"/>
          </a:xfrm>
          <a:prstGeom prst="rect">
            <a:avLst/>
          </a:prstGeom>
          <a:noFill/>
          <a:ln/>
        </p:spPr>
        <p:txBody>
          <a:bodyPr wrap="square" lIns="0" tIns="0" rIns="0" bIns="0" rtlCol="0" anchor="ctr"/>
          <a:lstStyle/>
          <a:p>
            <a:pPr marL="0" indent="0">
              <a:lnSpc>
                <a:spcPct val="115000"/>
              </a:lnSpc>
              <a:buNone/>
            </a:pPr>
            <a:r>
              <a:rPr lang="en-US" sz="1200" dirty="0">
                <a:solidFill>
                  <a:srgbClr val="1E293B"/>
                </a:solidFill>
                <a:latin typeface="Calibri" pitchFamily="34" charset="0"/>
                <a:ea typeface="Calibri" pitchFamily="34" charset="-122"/>
                <a:cs typeface="Calibri" pitchFamily="34" charset="-120"/>
              </a:rPr>
              <a:t>Guide, hotel room, or experience — never a shop, since shops aren't bookable.</a:t>
            </a:r>
            <a:endParaRPr lang="en-US" sz="1200" dirty="0"/>
          </a:p>
        </p:txBody>
      </p:sp>
      <p:sp>
        <p:nvSpPr>
          <p:cNvPr id="9" name="Shape 7"/>
          <p:cNvSpPr/>
          <p:nvPr/>
        </p:nvSpPr>
        <p:spPr>
          <a:xfrm>
            <a:off x="548640" y="2423160"/>
            <a:ext cx="502920" cy="502920"/>
          </a:xfrm>
          <a:prstGeom prst="ellipse">
            <a:avLst/>
          </a:prstGeom>
          <a:solidFill>
            <a:srgbClr val="0F2A43"/>
          </a:solidFill>
          <a:ln/>
        </p:spPr>
        <p:txBody>
          <a:bodyPr/>
          <a:lstStyle/>
          <a:p>
            <a:endParaRPr lang="en-US"/>
          </a:p>
        </p:txBody>
      </p:sp>
      <p:sp>
        <p:nvSpPr>
          <p:cNvPr id="10" name="Text 8"/>
          <p:cNvSpPr/>
          <p:nvPr/>
        </p:nvSpPr>
        <p:spPr>
          <a:xfrm>
            <a:off x="548640" y="24231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1" name="Shape 9"/>
          <p:cNvSpPr/>
          <p:nvPr/>
        </p:nvSpPr>
        <p:spPr>
          <a:xfrm>
            <a:off x="1234440" y="2377440"/>
            <a:ext cx="10378440" cy="777240"/>
          </a:xfrm>
          <a:prstGeom prst="roundRect">
            <a:avLst>
              <a:gd name="adj" fmla="val 7059"/>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12" name="Text 10"/>
          <p:cNvSpPr/>
          <p:nvPr/>
        </p:nvSpPr>
        <p:spPr>
          <a:xfrm>
            <a:off x="1508760" y="2377440"/>
            <a:ext cx="3291840" cy="777240"/>
          </a:xfrm>
          <a:prstGeom prst="rect">
            <a:avLst/>
          </a:prstGeom>
          <a:noFill/>
          <a:ln/>
        </p:spPr>
        <p:txBody>
          <a:bodyPr wrap="square" lIns="0" tIns="0" rIns="0" bIns="0" rtlCol="0" anchor="ctr"/>
          <a:lstStyle/>
          <a:p>
            <a:pPr marL="0" indent="0">
              <a:buNone/>
            </a:pPr>
            <a:r>
              <a:rPr lang="en-US" sz="1350" b="1" dirty="0">
                <a:solidFill>
                  <a:srgbClr val="0F2A43"/>
                </a:solidFill>
                <a:latin typeface="Calibri" pitchFamily="34" charset="0"/>
                <a:ea typeface="Calibri" pitchFamily="34" charset="-122"/>
                <a:cs typeface="Calibri" pitchFamily="34" charset="-120"/>
              </a:rPr>
              <a:t>Partner accepts the booking</a:t>
            </a:r>
            <a:endParaRPr lang="en-US" sz="1350" dirty="0"/>
          </a:p>
        </p:txBody>
      </p:sp>
      <p:sp>
        <p:nvSpPr>
          <p:cNvPr id="13" name="Text 11"/>
          <p:cNvSpPr/>
          <p:nvPr/>
        </p:nvSpPr>
        <p:spPr>
          <a:xfrm>
            <a:off x="4937760" y="2377440"/>
            <a:ext cx="6400800" cy="777240"/>
          </a:xfrm>
          <a:prstGeom prst="rect">
            <a:avLst/>
          </a:prstGeom>
          <a:noFill/>
          <a:ln/>
        </p:spPr>
        <p:txBody>
          <a:bodyPr wrap="square" lIns="0" tIns="0" rIns="0" bIns="0" rtlCol="0" anchor="ctr"/>
          <a:lstStyle/>
          <a:p>
            <a:pPr marL="0" indent="0">
              <a:lnSpc>
                <a:spcPct val="115000"/>
              </a:lnSpc>
              <a:buNone/>
            </a:pPr>
            <a:r>
              <a:rPr lang="en-US" sz="1200" dirty="0">
                <a:solidFill>
                  <a:srgbClr val="1E293B"/>
                </a:solidFill>
                <a:latin typeface="Calibri" pitchFamily="34" charset="0"/>
                <a:ea typeface="Calibri" pitchFamily="34" charset="-122"/>
                <a:cs typeface="Calibri" pitchFamily="34" charset="-120"/>
              </a:rPr>
              <a:t>Booking status moves from pending to confirmed.</a:t>
            </a:r>
            <a:endParaRPr lang="en-US" sz="1200" dirty="0"/>
          </a:p>
        </p:txBody>
      </p:sp>
      <p:sp>
        <p:nvSpPr>
          <p:cNvPr id="14" name="Shape 12"/>
          <p:cNvSpPr/>
          <p:nvPr/>
        </p:nvSpPr>
        <p:spPr>
          <a:xfrm>
            <a:off x="548640" y="3337560"/>
            <a:ext cx="502920" cy="502920"/>
          </a:xfrm>
          <a:prstGeom prst="ellipse">
            <a:avLst/>
          </a:prstGeom>
          <a:solidFill>
            <a:srgbClr val="0F2A43"/>
          </a:solidFill>
          <a:ln/>
        </p:spPr>
        <p:txBody>
          <a:bodyPr/>
          <a:lstStyle/>
          <a:p>
            <a:endParaRPr lang="en-US"/>
          </a:p>
        </p:txBody>
      </p:sp>
      <p:sp>
        <p:nvSpPr>
          <p:cNvPr id="15" name="Text 13"/>
          <p:cNvSpPr/>
          <p:nvPr/>
        </p:nvSpPr>
        <p:spPr>
          <a:xfrm>
            <a:off x="548640" y="33375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16" name="Shape 14"/>
          <p:cNvSpPr/>
          <p:nvPr/>
        </p:nvSpPr>
        <p:spPr>
          <a:xfrm>
            <a:off x="1234440" y="3291840"/>
            <a:ext cx="10378440" cy="777240"/>
          </a:xfrm>
          <a:prstGeom prst="roundRect">
            <a:avLst>
              <a:gd name="adj" fmla="val 7059"/>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17" name="Text 15"/>
          <p:cNvSpPr/>
          <p:nvPr/>
        </p:nvSpPr>
        <p:spPr>
          <a:xfrm>
            <a:off x="1508760" y="3291840"/>
            <a:ext cx="3291840" cy="777240"/>
          </a:xfrm>
          <a:prstGeom prst="rect">
            <a:avLst/>
          </a:prstGeom>
          <a:noFill/>
          <a:ln/>
        </p:spPr>
        <p:txBody>
          <a:bodyPr wrap="square" lIns="0" tIns="0" rIns="0" bIns="0" rtlCol="0" anchor="ctr"/>
          <a:lstStyle/>
          <a:p>
            <a:pPr marL="0" indent="0">
              <a:buNone/>
            </a:pPr>
            <a:r>
              <a:rPr lang="en-US" sz="1350" b="1" dirty="0">
                <a:solidFill>
                  <a:srgbClr val="0F2A43"/>
                </a:solidFill>
                <a:latin typeface="Calibri" pitchFamily="34" charset="0"/>
                <a:ea typeface="Calibri" pitchFamily="34" charset="-122"/>
                <a:cs typeface="Calibri" pitchFamily="34" charset="-120"/>
              </a:rPr>
              <a:t>Tourist pays online</a:t>
            </a:r>
            <a:endParaRPr lang="en-US" sz="1350" dirty="0"/>
          </a:p>
        </p:txBody>
      </p:sp>
      <p:sp>
        <p:nvSpPr>
          <p:cNvPr id="18" name="Text 16"/>
          <p:cNvSpPr/>
          <p:nvPr/>
        </p:nvSpPr>
        <p:spPr>
          <a:xfrm>
            <a:off x="4937760" y="3291840"/>
            <a:ext cx="6400800" cy="777240"/>
          </a:xfrm>
          <a:prstGeom prst="rect">
            <a:avLst/>
          </a:prstGeom>
          <a:noFill/>
          <a:ln/>
        </p:spPr>
        <p:txBody>
          <a:bodyPr wrap="square" lIns="0" tIns="0" rIns="0" bIns="0" rtlCol="0" anchor="ctr"/>
          <a:lstStyle/>
          <a:p>
            <a:pPr marL="0" indent="0">
              <a:lnSpc>
                <a:spcPct val="115000"/>
              </a:lnSpc>
              <a:buNone/>
            </a:pPr>
            <a:r>
              <a:rPr lang="en-US" sz="1200" dirty="0">
                <a:solidFill>
                  <a:srgbClr val="1E293B"/>
                </a:solidFill>
                <a:latin typeface="Calibri" pitchFamily="34" charset="0"/>
                <a:ea typeface="Calibri" pitchFamily="34" charset="-122"/>
                <a:cs typeface="Calibri" pitchFamily="34" charset="-120"/>
              </a:rPr>
              <a:t>Card-only payment; cash isn't supported since it can't be tracked for commission.</a:t>
            </a:r>
            <a:endParaRPr lang="en-US" sz="1200" dirty="0"/>
          </a:p>
        </p:txBody>
      </p:sp>
      <p:sp>
        <p:nvSpPr>
          <p:cNvPr id="19" name="Shape 17"/>
          <p:cNvSpPr/>
          <p:nvPr/>
        </p:nvSpPr>
        <p:spPr>
          <a:xfrm>
            <a:off x="548640" y="4251960"/>
            <a:ext cx="502920" cy="502920"/>
          </a:xfrm>
          <a:prstGeom prst="ellipse">
            <a:avLst/>
          </a:prstGeom>
          <a:solidFill>
            <a:srgbClr val="0F2A43"/>
          </a:solidFill>
          <a:ln/>
        </p:spPr>
        <p:txBody>
          <a:bodyPr/>
          <a:lstStyle/>
          <a:p>
            <a:endParaRPr lang="en-US"/>
          </a:p>
        </p:txBody>
      </p:sp>
      <p:sp>
        <p:nvSpPr>
          <p:cNvPr id="20" name="Text 18"/>
          <p:cNvSpPr/>
          <p:nvPr/>
        </p:nvSpPr>
        <p:spPr>
          <a:xfrm>
            <a:off x="548640" y="42519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21" name="Shape 19"/>
          <p:cNvSpPr/>
          <p:nvPr/>
        </p:nvSpPr>
        <p:spPr>
          <a:xfrm>
            <a:off x="1234440" y="4206240"/>
            <a:ext cx="10378440" cy="777240"/>
          </a:xfrm>
          <a:prstGeom prst="roundRect">
            <a:avLst>
              <a:gd name="adj" fmla="val 7059"/>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22" name="Text 20"/>
          <p:cNvSpPr/>
          <p:nvPr/>
        </p:nvSpPr>
        <p:spPr>
          <a:xfrm>
            <a:off x="1508760" y="4206240"/>
            <a:ext cx="3291840" cy="777240"/>
          </a:xfrm>
          <a:prstGeom prst="rect">
            <a:avLst/>
          </a:prstGeom>
          <a:noFill/>
          <a:ln/>
        </p:spPr>
        <p:txBody>
          <a:bodyPr wrap="square" lIns="0" tIns="0" rIns="0" bIns="0" rtlCol="0" anchor="ctr"/>
          <a:lstStyle/>
          <a:p>
            <a:pPr marL="0" indent="0">
              <a:buNone/>
            </a:pPr>
            <a:r>
              <a:rPr lang="en-US" sz="1350" b="1" dirty="0">
                <a:solidFill>
                  <a:srgbClr val="0F2A43"/>
                </a:solidFill>
                <a:latin typeface="Calibri" pitchFamily="34" charset="0"/>
                <a:ea typeface="Calibri" pitchFamily="34" charset="-122"/>
                <a:cs typeface="Calibri" pitchFamily="34" charset="-120"/>
              </a:rPr>
              <a:t>Admin commission applies</a:t>
            </a:r>
            <a:endParaRPr lang="en-US" sz="1350" dirty="0"/>
          </a:p>
        </p:txBody>
      </p:sp>
      <p:sp>
        <p:nvSpPr>
          <p:cNvPr id="23" name="Text 21"/>
          <p:cNvSpPr/>
          <p:nvPr/>
        </p:nvSpPr>
        <p:spPr>
          <a:xfrm>
            <a:off x="4937760" y="4206240"/>
            <a:ext cx="6400800" cy="777240"/>
          </a:xfrm>
          <a:prstGeom prst="rect">
            <a:avLst/>
          </a:prstGeom>
          <a:noFill/>
          <a:ln/>
        </p:spPr>
        <p:txBody>
          <a:bodyPr wrap="square" lIns="0" tIns="0" rIns="0" bIns="0" rtlCol="0" anchor="ctr"/>
          <a:lstStyle/>
          <a:p>
            <a:pPr marL="0" indent="0">
              <a:lnSpc>
                <a:spcPct val="115000"/>
              </a:lnSpc>
              <a:buNone/>
            </a:pPr>
            <a:r>
              <a:rPr lang="en-US" sz="1200" dirty="0">
                <a:solidFill>
                  <a:srgbClr val="1E293B"/>
                </a:solidFill>
                <a:latin typeface="Calibri" pitchFamily="34" charset="0"/>
                <a:ea typeface="Calibri" pitchFamily="34" charset="-122"/>
                <a:cs typeface="Calibri" pitchFamily="34" charset="-120"/>
              </a:rPr>
              <a:t>A percentage is taken automatically from each completed booking.</a:t>
            </a:r>
            <a:endParaRPr lang="en-US" sz="1200" dirty="0"/>
          </a:p>
        </p:txBody>
      </p:sp>
      <p:sp>
        <p:nvSpPr>
          <p:cNvPr id="24" name="Shape 22"/>
          <p:cNvSpPr/>
          <p:nvPr/>
        </p:nvSpPr>
        <p:spPr>
          <a:xfrm>
            <a:off x="548640" y="5166360"/>
            <a:ext cx="502920" cy="502920"/>
          </a:xfrm>
          <a:prstGeom prst="ellipse">
            <a:avLst/>
          </a:prstGeom>
          <a:solidFill>
            <a:srgbClr val="0F2A43"/>
          </a:solidFill>
          <a:ln/>
        </p:spPr>
        <p:txBody>
          <a:bodyPr/>
          <a:lstStyle/>
          <a:p>
            <a:endParaRPr lang="en-US"/>
          </a:p>
        </p:txBody>
      </p:sp>
      <p:sp>
        <p:nvSpPr>
          <p:cNvPr id="25" name="Text 23"/>
          <p:cNvSpPr/>
          <p:nvPr/>
        </p:nvSpPr>
        <p:spPr>
          <a:xfrm>
            <a:off x="548640" y="51663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rPr>
              <a:t>5</a:t>
            </a:r>
            <a:endParaRPr lang="en-US" sz="1600" dirty="0"/>
          </a:p>
        </p:txBody>
      </p:sp>
      <p:sp>
        <p:nvSpPr>
          <p:cNvPr id="26" name="Shape 24"/>
          <p:cNvSpPr/>
          <p:nvPr/>
        </p:nvSpPr>
        <p:spPr>
          <a:xfrm>
            <a:off x="1234440" y="5120640"/>
            <a:ext cx="10378440" cy="777240"/>
          </a:xfrm>
          <a:prstGeom prst="roundRect">
            <a:avLst>
              <a:gd name="adj" fmla="val 7059"/>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27" name="Text 25"/>
          <p:cNvSpPr/>
          <p:nvPr/>
        </p:nvSpPr>
        <p:spPr>
          <a:xfrm>
            <a:off x="1508760" y="5120640"/>
            <a:ext cx="3291840" cy="777240"/>
          </a:xfrm>
          <a:prstGeom prst="rect">
            <a:avLst/>
          </a:prstGeom>
          <a:noFill/>
          <a:ln/>
        </p:spPr>
        <p:txBody>
          <a:bodyPr wrap="square" lIns="0" tIns="0" rIns="0" bIns="0" rtlCol="0" anchor="ctr"/>
          <a:lstStyle/>
          <a:p>
            <a:pPr marL="0" indent="0">
              <a:buNone/>
            </a:pPr>
            <a:r>
              <a:rPr lang="en-US" sz="1350" b="1" dirty="0">
                <a:solidFill>
                  <a:srgbClr val="0F2A43"/>
                </a:solidFill>
                <a:latin typeface="Calibri" pitchFamily="34" charset="0"/>
                <a:ea typeface="Calibri" pitchFamily="34" charset="-122"/>
                <a:cs typeface="Calibri" pitchFamily="34" charset="-120"/>
              </a:rPr>
              <a:t>Shop owners pay differently</a:t>
            </a:r>
            <a:endParaRPr lang="en-US" sz="1350" dirty="0"/>
          </a:p>
        </p:txBody>
      </p:sp>
      <p:sp>
        <p:nvSpPr>
          <p:cNvPr id="28" name="Text 26"/>
          <p:cNvSpPr/>
          <p:nvPr/>
        </p:nvSpPr>
        <p:spPr>
          <a:xfrm>
            <a:off x="4937760" y="5120640"/>
            <a:ext cx="6400800" cy="777240"/>
          </a:xfrm>
          <a:prstGeom prst="rect">
            <a:avLst/>
          </a:prstGeom>
          <a:noFill/>
          <a:ln/>
        </p:spPr>
        <p:txBody>
          <a:bodyPr wrap="square" lIns="0" tIns="0" rIns="0" bIns="0" rtlCol="0" anchor="ctr"/>
          <a:lstStyle/>
          <a:p>
            <a:pPr marL="0" indent="0">
              <a:lnSpc>
                <a:spcPct val="115000"/>
              </a:lnSpc>
              <a:buNone/>
            </a:pPr>
            <a:r>
              <a:rPr lang="en-US" sz="1200" dirty="0">
                <a:solidFill>
                  <a:srgbClr val="1E293B"/>
                </a:solidFill>
                <a:latin typeface="Calibri" pitchFamily="34" charset="0"/>
                <a:ea typeface="Calibri" pitchFamily="34" charset="-122"/>
                <a:cs typeface="Calibri" pitchFamily="34" charset="-120"/>
              </a:rPr>
              <a:t>No bookings, so they pay a flat monthly listing fee instead of commission.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F2A43"/>
          </a:solidFill>
          <a:ln/>
        </p:spPr>
        <p:txBody>
          <a:bodyPr/>
          <a:lstStyle/>
          <a:p>
            <a:endParaRPr lang="en-US"/>
          </a:p>
        </p:txBody>
      </p:sp>
      <p:sp>
        <p:nvSpPr>
          <p:cNvPr id="3" name="Text 1"/>
          <p:cNvSpPr/>
          <p:nvPr/>
        </p:nvSpPr>
        <p:spPr>
          <a:xfrm>
            <a:off x="548640" y="256032"/>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Database Design Approach</a:t>
            </a:r>
            <a:endParaRPr lang="en-US" sz="2600" dirty="0"/>
          </a:p>
        </p:txBody>
      </p:sp>
      <p:sp>
        <p:nvSpPr>
          <p:cNvPr id="4" name="Shape 2"/>
          <p:cNvSpPr/>
          <p:nvPr/>
        </p:nvSpPr>
        <p:spPr>
          <a:xfrm>
            <a:off x="548640" y="1325880"/>
            <a:ext cx="3383280" cy="4846320"/>
          </a:xfrm>
          <a:prstGeom prst="roundRect">
            <a:avLst>
              <a:gd name="adj" fmla="val 2162"/>
            </a:avLst>
          </a:prstGeom>
          <a:solidFill>
            <a:srgbClr val="0F2A43"/>
          </a:solidFill>
          <a:ln/>
        </p:spPr>
        <p:txBody>
          <a:bodyPr/>
          <a:lstStyle/>
          <a:p>
            <a:endParaRPr lang="en-US"/>
          </a:p>
        </p:txBody>
      </p:sp>
      <p:sp>
        <p:nvSpPr>
          <p:cNvPr id="5" name="Shape 3"/>
          <p:cNvSpPr/>
          <p:nvPr/>
        </p:nvSpPr>
        <p:spPr>
          <a:xfrm>
            <a:off x="914400" y="1691640"/>
            <a:ext cx="777240" cy="777240"/>
          </a:xfrm>
          <a:prstGeom prst="ellipse">
            <a:avLst/>
          </a:prstGeom>
          <a:solidFill>
            <a:srgbClr val="1C7293"/>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116482" y="1893722"/>
            <a:ext cx="373075" cy="373075"/>
          </a:xfrm>
          <a:prstGeom prst="rect">
            <a:avLst/>
          </a:prstGeom>
        </p:spPr>
      </p:pic>
      <p:sp>
        <p:nvSpPr>
          <p:cNvPr id="7" name="Text 4"/>
          <p:cNvSpPr/>
          <p:nvPr/>
        </p:nvSpPr>
        <p:spPr>
          <a:xfrm>
            <a:off x="548640" y="2651760"/>
            <a:ext cx="3383280" cy="822960"/>
          </a:xfrm>
          <a:prstGeom prst="rect">
            <a:avLst/>
          </a:prstGeom>
          <a:noFill/>
          <a:ln/>
        </p:spPr>
        <p:txBody>
          <a:bodyPr wrap="square" lIns="0" tIns="0" rIns="0" bIns="0" rtlCol="0" anchor="ctr"/>
          <a:lstStyle/>
          <a:p>
            <a:pPr marL="0" indent="0" algn="ctr">
              <a:buNone/>
            </a:pPr>
            <a:r>
              <a:rPr lang="en-US" sz="4800" b="1" dirty="0">
                <a:solidFill>
                  <a:srgbClr val="FFFFFF"/>
                </a:solidFill>
                <a:latin typeface="Cambria" pitchFamily="34" charset="0"/>
                <a:ea typeface="Cambria" pitchFamily="34" charset="-122"/>
                <a:cs typeface="Cambria" pitchFamily="34" charset="-120"/>
              </a:rPr>
              <a:t>21</a:t>
            </a:r>
            <a:endParaRPr lang="en-US" sz="4800" dirty="0"/>
          </a:p>
        </p:txBody>
      </p:sp>
      <p:sp>
        <p:nvSpPr>
          <p:cNvPr id="8" name="Text 5"/>
          <p:cNvSpPr/>
          <p:nvPr/>
        </p:nvSpPr>
        <p:spPr>
          <a:xfrm>
            <a:off x="548640" y="3383280"/>
            <a:ext cx="3383280" cy="365760"/>
          </a:xfrm>
          <a:prstGeom prst="rect">
            <a:avLst/>
          </a:prstGeom>
          <a:noFill/>
          <a:ln/>
        </p:spPr>
        <p:txBody>
          <a:bodyPr wrap="square" lIns="0" tIns="0" rIns="0" bIns="0" rtlCol="0" anchor="ctr"/>
          <a:lstStyle/>
          <a:p>
            <a:pPr marL="0" indent="0" algn="ctr">
              <a:buNone/>
            </a:pPr>
            <a:r>
              <a:rPr lang="en-US" sz="1300" dirty="0">
                <a:solidFill>
                  <a:srgbClr val="CADCFC"/>
                </a:solidFill>
                <a:latin typeface="Calibri" pitchFamily="34" charset="0"/>
                <a:ea typeface="Calibri" pitchFamily="34" charset="-122"/>
                <a:cs typeface="Calibri" pitchFamily="34" charset="-120"/>
              </a:rPr>
              <a:t>Tables in the schema</a:t>
            </a:r>
            <a:endParaRPr lang="en-US" sz="1300" dirty="0"/>
          </a:p>
        </p:txBody>
      </p:sp>
      <p:sp>
        <p:nvSpPr>
          <p:cNvPr id="9" name="Shape 6"/>
          <p:cNvSpPr/>
          <p:nvPr/>
        </p:nvSpPr>
        <p:spPr>
          <a:xfrm>
            <a:off x="914400" y="3977640"/>
            <a:ext cx="2651760" cy="0"/>
          </a:xfrm>
          <a:prstGeom prst="line">
            <a:avLst/>
          </a:prstGeom>
          <a:noFill/>
          <a:ln w="12700">
            <a:solidFill>
              <a:srgbClr val="1C7293"/>
            </a:solidFill>
            <a:prstDash val="solid"/>
          </a:ln>
        </p:spPr>
        <p:txBody>
          <a:bodyPr/>
          <a:lstStyle/>
          <a:p>
            <a:endParaRPr lang="en-US"/>
          </a:p>
        </p:txBody>
      </p:sp>
      <p:sp>
        <p:nvSpPr>
          <p:cNvPr id="10" name="Text 7"/>
          <p:cNvSpPr/>
          <p:nvPr/>
        </p:nvSpPr>
        <p:spPr>
          <a:xfrm>
            <a:off x="868680" y="4206240"/>
            <a:ext cx="2743200" cy="1554480"/>
          </a:xfrm>
          <a:prstGeom prst="rect">
            <a:avLst/>
          </a:prstGeom>
          <a:noFill/>
          <a:ln/>
        </p:spPr>
        <p:txBody>
          <a:bodyPr wrap="square" lIns="0" tIns="0" rIns="0" bIns="0" rtlCol="0" anchor="ctr"/>
          <a:lstStyle/>
          <a:p>
            <a:pPr marL="0" indent="0" algn="ctr">
              <a:lnSpc>
                <a:spcPct val="130000"/>
              </a:lnSpc>
              <a:buNone/>
            </a:pPr>
            <a:r>
              <a:rPr lang="en-US" sz="1200" b="1" dirty="0">
                <a:solidFill>
                  <a:srgbClr val="CADCFC"/>
                </a:solidFill>
                <a:latin typeface="Calibri" pitchFamily="34" charset="0"/>
                <a:ea typeface="Calibri" pitchFamily="34" charset="-122"/>
                <a:cs typeface="Calibri" pitchFamily="34" charset="-120"/>
              </a:rPr>
              <a:t>Built and verified in phpMyAdmin</a:t>
            </a:r>
            <a:endParaRPr lang="en-US" sz="1200" dirty="0"/>
          </a:p>
          <a:p>
            <a:pPr marL="0" indent="0" algn="ctr">
              <a:lnSpc>
                <a:spcPct val="130000"/>
              </a:lnSpc>
              <a:buNone/>
            </a:pPr>
            <a:r>
              <a:rPr lang="en-US" sz="1200" dirty="0">
                <a:solidFill>
                  <a:srgbClr val="CADCFC"/>
                </a:solidFill>
                <a:latin typeface="Calibri" pitchFamily="34" charset="0"/>
                <a:ea typeface="Calibri" pitchFamily="34" charset="-122"/>
                <a:cs typeface="Calibri" pitchFamily="34" charset="-120"/>
              </a:rPr>
              <a:t>with foreign keys confirmed via the Designer view.</a:t>
            </a:r>
            <a:endParaRPr lang="en-US" sz="1200" dirty="0"/>
          </a:p>
        </p:txBody>
      </p:sp>
      <p:sp>
        <p:nvSpPr>
          <p:cNvPr id="11" name="Shape 8"/>
          <p:cNvSpPr/>
          <p:nvPr/>
        </p:nvSpPr>
        <p:spPr>
          <a:xfrm>
            <a:off x="4434840" y="1371600"/>
            <a:ext cx="566928" cy="566928"/>
          </a:xfrm>
          <a:prstGeom prst="ellipse">
            <a:avLst/>
          </a:prstGeom>
          <a:solidFill>
            <a:srgbClr val="F4EDE1"/>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582241" y="1519001"/>
            <a:ext cx="272125" cy="272125"/>
          </a:xfrm>
          <a:prstGeom prst="rect">
            <a:avLst/>
          </a:prstGeom>
        </p:spPr>
      </p:pic>
      <p:sp>
        <p:nvSpPr>
          <p:cNvPr id="13" name="Text 9"/>
          <p:cNvSpPr/>
          <p:nvPr/>
        </p:nvSpPr>
        <p:spPr>
          <a:xfrm>
            <a:off x="5212080" y="1344168"/>
            <a:ext cx="6400800" cy="320040"/>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Disjoint Specialization</a:t>
            </a:r>
            <a:endParaRPr lang="en-US" sz="1450" dirty="0"/>
          </a:p>
        </p:txBody>
      </p:sp>
      <p:sp>
        <p:nvSpPr>
          <p:cNvPr id="14" name="Text 10"/>
          <p:cNvSpPr/>
          <p:nvPr/>
        </p:nvSpPr>
        <p:spPr>
          <a:xfrm>
            <a:off x="5212080" y="1664208"/>
            <a:ext cx="6400800" cy="868680"/>
          </a:xfrm>
          <a:prstGeom prst="rect">
            <a:avLst/>
          </a:prstGeom>
          <a:noFill/>
          <a:ln/>
        </p:spPr>
        <p:txBody>
          <a:bodyPr wrap="square" lIns="0" tIns="0" rIns="0" bIns="0" rtlCol="0" anchor="ctr"/>
          <a:lstStyle/>
          <a:p>
            <a:pPr marL="0" indent="0">
              <a:lnSpc>
                <a:spcPct val="115000"/>
              </a:lnSpc>
              <a:buNone/>
            </a:pPr>
            <a:r>
              <a:rPr lang="en-US" sz="1150" dirty="0">
                <a:solidFill>
                  <a:srgbClr val="1E293B"/>
                </a:solidFill>
                <a:latin typeface="Calibri" pitchFamily="34" charset="0"/>
                <a:ea typeface="Calibri" pitchFamily="34" charset="-122"/>
                <a:cs typeface="Calibri" pitchFamily="34" charset="-120"/>
              </a:rPr>
              <a:t>Listings, bookings and payments each split into a parent table plus role-specific child tables — no wasted null columns.</a:t>
            </a:r>
            <a:endParaRPr lang="en-US" sz="1150" dirty="0"/>
          </a:p>
        </p:txBody>
      </p:sp>
      <p:sp>
        <p:nvSpPr>
          <p:cNvPr id="15" name="Shape 11"/>
          <p:cNvSpPr/>
          <p:nvPr/>
        </p:nvSpPr>
        <p:spPr>
          <a:xfrm>
            <a:off x="4434840" y="2606040"/>
            <a:ext cx="566928" cy="566928"/>
          </a:xfrm>
          <a:prstGeom prst="ellipse">
            <a:avLst/>
          </a:prstGeom>
          <a:solidFill>
            <a:srgbClr val="F4EDE1"/>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4582241" y="2753441"/>
            <a:ext cx="272125" cy="272125"/>
          </a:xfrm>
          <a:prstGeom prst="rect">
            <a:avLst/>
          </a:prstGeom>
        </p:spPr>
      </p:pic>
      <p:sp>
        <p:nvSpPr>
          <p:cNvPr id="17" name="Text 12"/>
          <p:cNvSpPr/>
          <p:nvPr/>
        </p:nvSpPr>
        <p:spPr>
          <a:xfrm>
            <a:off x="5212080" y="2578608"/>
            <a:ext cx="6400800" cy="320040"/>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Single Users Table</a:t>
            </a:r>
            <a:endParaRPr lang="en-US" sz="1450" dirty="0"/>
          </a:p>
        </p:txBody>
      </p:sp>
      <p:sp>
        <p:nvSpPr>
          <p:cNvPr id="18" name="Text 13"/>
          <p:cNvSpPr/>
          <p:nvPr/>
        </p:nvSpPr>
        <p:spPr>
          <a:xfrm>
            <a:off x="5212080" y="2898648"/>
            <a:ext cx="6400800" cy="868680"/>
          </a:xfrm>
          <a:prstGeom prst="rect">
            <a:avLst/>
          </a:prstGeom>
          <a:noFill/>
          <a:ln/>
        </p:spPr>
        <p:txBody>
          <a:bodyPr wrap="square" lIns="0" tIns="0" rIns="0" bIns="0" rtlCol="0" anchor="ctr"/>
          <a:lstStyle/>
          <a:p>
            <a:pPr marL="0" indent="0">
              <a:lnSpc>
                <a:spcPct val="115000"/>
              </a:lnSpc>
              <a:buNone/>
            </a:pPr>
            <a:r>
              <a:rPr lang="en-US" sz="1150" dirty="0">
                <a:solidFill>
                  <a:srgbClr val="1E293B"/>
                </a:solidFill>
                <a:latin typeface="Calibri" pitchFamily="34" charset="0"/>
                <a:ea typeface="Calibri" pitchFamily="34" charset="-122"/>
                <a:cs typeface="Calibri" pitchFamily="34" charset="-120"/>
              </a:rPr>
              <a:t>One table with a role column for all 6 actor types — no per-role duplication, since all share the same profile fields.</a:t>
            </a:r>
            <a:endParaRPr lang="en-US" sz="1150" dirty="0"/>
          </a:p>
        </p:txBody>
      </p:sp>
      <p:sp>
        <p:nvSpPr>
          <p:cNvPr id="19" name="Shape 14"/>
          <p:cNvSpPr/>
          <p:nvPr/>
        </p:nvSpPr>
        <p:spPr>
          <a:xfrm>
            <a:off x="4434840" y="3840480"/>
            <a:ext cx="566928" cy="566928"/>
          </a:xfrm>
          <a:prstGeom prst="ellipse">
            <a:avLst/>
          </a:prstGeom>
          <a:solidFill>
            <a:srgbClr val="F4EDE1"/>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4582241" y="3987881"/>
            <a:ext cx="272125" cy="272125"/>
          </a:xfrm>
          <a:prstGeom prst="rect">
            <a:avLst/>
          </a:prstGeom>
        </p:spPr>
      </p:pic>
      <p:sp>
        <p:nvSpPr>
          <p:cNvPr id="21" name="Text 15"/>
          <p:cNvSpPr/>
          <p:nvPr/>
        </p:nvSpPr>
        <p:spPr>
          <a:xfrm>
            <a:off x="5212080" y="3813048"/>
            <a:ext cx="6400800" cy="320040"/>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Online-Only Payments</a:t>
            </a:r>
            <a:endParaRPr lang="en-US" sz="1450" dirty="0"/>
          </a:p>
        </p:txBody>
      </p:sp>
      <p:sp>
        <p:nvSpPr>
          <p:cNvPr id="22" name="Text 16"/>
          <p:cNvSpPr/>
          <p:nvPr/>
        </p:nvSpPr>
        <p:spPr>
          <a:xfrm>
            <a:off x="5212080" y="4133088"/>
            <a:ext cx="6400800" cy="868680"/>
          </a:xfrm>
          <a:prstGeom prst="rect">
            <a:avLst/>
          </a:prstGeom>
          <a:noFill/>
          <a:ln/>
        </p:spPr>
        <p:txBody>
          <a:bodyPr wrap="square" lIns="0" tIns="0" rIns="0" bIns="0" rtlCol="0" anchor="ctr"/>
          <a:lstStyle/>
          <a:p>
            <a:pPr marL="0" indent="0">
              <a:lnSpc>
                <a:spcPct val="115000"/>
              </a:lnSpc>
              <a:buNone/>
            </a:pPr>
            <a:r>
              <a:rPr lang="en-US" sz="1150" dirty="0">
                <a:solidFill>
                  <a:srgbClr val="1E293B"/>
                </a:solidFill>
                <a:latin typeface="Calibri" pitchFamily="34" charset="0"/>
                <a:ea typeface="Calibri" pitchFamily="34" charset="-122"/>
                <a:cs typeface="Calibri" pitchFamily="34" charset="-120"/>
              </a:rPr>
              <a:t>No cash option, since commission can't be reliably collected on cash transactions.</a:t>
            </a:r>
            <a:endParaRPr lang="en-US" sz="1150" dirty="0"/>
          </a:p>
        </p:txBody>
      </p:sp>
      <p:sp>
        <p:nvSpPr>
          <p:cNvPr id="23" name="Shape 17"/>
          <p:cNvSpPr/>
          <p:nvPr/>
        </p:nvSpPr>
        <p:spPr>
          <a:xfrm>
            <a:off x="4434840" y="5074920"/>
            <a:ext cx="566928" cy="566928"/>
          </a:xfrm>
          <a:prstGeom prst="ellipse">
            <a:avLst/>
          </a:prstGeom>
          <a:solidFill>
            <a:srgbClr val="F4EDE1"/>
          </a:solidFill>
          <a:ln/>
        </p:spPr>
        <p:txBody>
          <a:bodyPr/>
          <a:lstStyle/>
          <a:p>
            <a:endParaRPr lang="en-US"/>
          </a:p>
        </p:txBody>
      </p:sp>
      <p:pic>
        <p:nvPicPr>
          <p:cNvPr id="24" name="Image 4" descr="preencoded.png"/>
          <p:cNvPicPr>
            <a:picLocks noChangeAspect="1"/>
          </p:cNvPicPr>
          <p:nvPr/>
        </p:nvPicPr>
        <p:blipFill>
          <a:blip r:embed="rId7"/>
          <a:stretch>
            <a:fillRect/>
          </a:stretch>
        </p:blipFill>
        <p:spPr>
          <a:xfrm>
            <a:off x="4582241" y="5222321"/>
            <a:ext cx="272125" cy="272125"/>
          </a:xfrm>
          <a:prstGeom prst="rect">
            <a:avLst/>
          </a:prstGeom>
        </p:spPr>
      </p:pic>
      <p:sp>
        <p:nvSpPr>
          <p:cNvPr id="25" name="Text 18"/>
          <p:cNvSpPr/>
          <p:nvPr/>
        </p:nvSpPr>
        <p:spPr>
          <a:xfrm>
            <a:off x="5212080" y="5047488"/>
            <a:ext cx="6400800" cy="320040"/>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Calculated, Not Stored</a:t>
            </a:r>
            <a:endParaRPr lang="en-US" sz="1450" dirty="0"/>
          </a:p>
        </p:txBody>
      </p:sp>
      <p:sp>
        <p:nvSpPr>
          <p:cNvPr id="26" name="Text 19"/>
          <p:cNvSpPr/>
          <p:nvPr/>
        </p:nvSpPr>
        <p:spPr>
          <a:xfrm>
            <a:off x="5212080" y="5367528"/>
            <a:ext cx="6400800" cy="868680"/>
          </a:xfrm>
          <a:prstGeom prst="rect">
            <a:avLst/>
          </a:prstGeom>
          <a:noFill/>
          <a:ln/>
        </p:spPr>
        <p:txBody>
          <a:bodyPr wrap="square" lIns="0" tIns="0" rIns="0" bIns="0" rtlCol="0" anchor="ctr"/>
          <a:lstStyle/>
          <a:p>
            <a:pPr marL="0" indent="0">
              <a:lnSpc>
                <a:spcPct val="115000"/>
              </a:lnSpc>
              <a:buNone/>
            </a:pPr>
            <a:r>
              <a:rPr lang="en-US" sz="1150" dirty="0">
                <a:solidFill>
                  <a:srgbClr val="1E293B"/>
                </a:solidFill>
                <a:latin typeface="Calibri" pitchFamily="34" charset="0"/>
                <a:ea typeface="Calibri" pitchFamily="34" charset="-122"/>
                <a:cs typeface="Calibri" pitchFamily="34" charset="-120"/>
              </a:rPr>
              <a:t>Ratings and totals are computed live from reviews/bookings rather than duplicated and risking outdated data.</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DE1"/>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lIns="0" tIns="0" rIns="0" bIns="0" rtlCol="0" anchor="ctr"/>
          <a:lstStyle/>
          <a:p>
            <a:pPr marL="0" indent="0">
              <a:buNone/>
            </a:pPr>
            <a:r>
              <a:rPr lang="en-US" sz="2600" b="1" dirty="0">
                <a:solidFill>
                  <a:srgbClr val="0F2A43"/>
                </a:solidFill>
                <a:latin typeface="Cambria" pitchFamily="34" charset="0"/>
                <a:ea typeface="Cambria" pitchFamily="34" charset="-122"/>
                <a:cs typeface="Cambria" pitchFamily="34" charset="-120"/>
              </a:rPr>
              <a:t>Use Case Modelling</a:t>
            </a:r>
            <a:endParaRPr lang="en-US" sz="2600" dirty="0"/>
          </a:p>
        </p:txBody>
      </p:sp>
      <p:sp>
        <p:nvSpPr>
          <p:cNvPr id="3" name="Text 1"/>
          <p:cNvSpPr/>
          <p:nvPr/>
        </p:nvSpPr>
        <p:spPr>
          <a:xfrm>
            <a:off x="548640" y="914400"/>
            <a:ext cx="8229600" cy="36576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Key UML decisions applied across the diagram</a:t>
            </a:r>
            <a:endParaRPr lang="en-US" sz="1300" dirty="0"/>
          </a:p>
        </p:txBody>
      </p:sp>
      <p:sp>
        <p:nvSpPr>
          <p:cNvPr id="4" name="Shape 2"/>
          <p:cNvSpPr/>
          <p:nvPr/>
        </p:nvSpPr>
        <p:spPr>
          <a:xfrm>
            <a:off x="548640" y="1463040"/>
            <a:ext cx="5440680" cy="2148840"/>
          </a:xfrm>
          <a:prstGeom prst="roundRect">
            <a:avLst>
              <a:gd name="adj" fmla="val 3404"/>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5" name="Shape 3"/>
          <p:cNvSpPr/>
          <p:nvPr/>
        </p:nvSpPr>
        <p:spPr>
          <a:xfrm>
            <a:off x="777240" y="1691640"/>
            <a:ext cx="548640" cy="548640"/>
          </a:xfrm>
          <a:prstGeom prst="ellipse">
            <a:avLst/>
          </a:prstGeom>
          <a:solidFill>
            <a:srgbClr val="1C7293"/>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19886" y="1834286"/>
            <a:ext cx="263347" cy="263347"/>
          </a:xfrm>
          <a:prstGeom prst="rect">
            <a:avLst/>
          </a:prstGeom>
        </p:spPr>
      </p:pic>
      <p:sp>
        <p:nvSpPr>
          <p:cNvPr id="7" name="Text 4"/>
          <p:cNvSpPr/>
          <p:nvPr/>
        </p:nvSpPr>
        <p:spPr>
          <a:xfrm>
            <a:off x="1463040" y="1691640"/>
            <a:ext cx="4297680" cy="502920"/>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Actor generalization</a:t>
            </a:r>
            <a:endParaRPr lang="en-US" sz="1450" dirty="0"/>
          </a:p>
        </p:txBody>
      </p:sp>
      <p:sp>
        <p:nvSpPr>
          <p:cNvPr id="8" name="Text 5"/>
          <p:cNvSpPr/>
          <p:nvPr/>
        </p:nvSpPr>
        <p:spPr>
          <a:xfrm>
            <a:off x="777240" y="2377440"/>
            <a:ext cx="4983480" cy="1097280"/>
          </a:xfrm>
          <a:prstGeom prst="rect">
            <a:avLst/>
          </a:prstGeom>
          <a:noFill/>
          <a:ln/>
        </p:spPr>
        <p:txBody>
          <a:bodyPr wrap="square" lIns="0" tIns="0" rIns="0" bIns="0" rtlCol="0" anchor="ctr"/>
          <a:lstStyle/>
          <a:p>
            <a:pPr marL="0" indent="0">
              <a:lnSpc>
                <a:spcPct val="120000"/>
              </a:lnSpc>
              <a:buNone/>
            </a:pPr>
            <a:r>
              <a:rPr lang="en-US" sz="1150" dirty="0">
                <a:solidFill>
                  <a:srgbClr val="1E293B"/>
                </a:solidFill>
                <a:latin typeface="Calibri" pitchFamily="34" charset="0"/>
                <a:ea typeface="Calibri" pitchFamily="34" charset="-122"/>
                <a:cs typeface="Calibri" pitchFamily="34" charset="-120"/>
              </a:rPr>
              <a:t>A shared "User" parent actor holds Login and Edit Profile — all 6 actors inherit from it, reducing repeated lines.</a:t>
            </a:r>
            <a:endParaRPr lang="en-US" sz="1150" dirty="0"/>
          </a:p>
        </p:txBody>
      </p:sp>
      <p:sp>
        <p:nvSpPr>
          <p:cNvPr id="9" name="Shape 6"/>
          <p:cNvSpPr/>
          <p:nvPr/>
        </p:nvSpPr>
        <p:spPr>
          <a:xfrm>
            <a:off x="6309360" y="1463040"/>
            <a:ext cx="5440680" cy="2148840"/>
          </a:xfrm>
          <a:prstGeom prst="roundRect">
            <a:avLst>
              <a:gd name="adj" fmla="val 3404"/>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10" name="Shape 7"/>
          <p:cNvSpPr/>
          <p:nvPr/>
        </p:nvSpPr>
        <p:spPr>
          <a:xfrm>
            <a:off x="6537960" y="1691640"/>
            <a:ext cx="548640" cy="548640"/>
          </a:xfrm>
          <a:prstGeom prst="ellipse">
            <a:avLst/>
          </a:prstGeom>
          <a:solidFill>
            <a:srgbClr val="1C7293"/>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6680606" y="1834286"/>
            <a:ext cx="263347" cy="263347"/>
          </a:xfrm>
          <a:prstGeom prst="rect">
            <a:avLst/>
          </a:prstGeom>
        </p:spPr>
      </p:pic>
      <p:sp>
        <p:nvSpPr>
          <p:cNvPr id="12" name="Text 8"/>
          <p:cNvSpPr/>
          <p:nvPr/>
        </p:nvSpPr>
        <p:spPr>
          <a:xfrm>
            <a:off x="7223760" y="1691640"/>
            <a:ext cx="4297680" cy="502920"/>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Include vs. extend</a:t>
            </a:r>
            <a:endParaRPr lang="en-US" sz="1450" dirty="0"/>
          </a:p>
        </p:txBody>
      </p:sp>
      <p:sp>
        <p:nvSpPr>
          <p:cNvPr id="13" name="Text 9"/>
          <p:cNvSpPr/>
          <p:nvPr/>
        </p:nvSpPr>
        <p:spPr>
          <a:xfrm>
            <a:off x="6537960" y="2377440"/>
            <a:ext cx="4983480" cy="1097280"/>
          </a:xfrm>
          <a:prstGeom prst="rect">
            <a:avLst/>
          </a:prstGeom>
          <a:noFill/>
          <a:ln/>
        </p:spPr>
        <p:txBody>
          <a:bodyPr wrap="square" lIns="0" tIns="0" rIns="0" bIns="0" rtlCol="0" anchor="ctr"/>
          <a:lstStyle/>
          <a:p>
            <a:pPr marL="0" indent="0">
              <a:lnSpc>
                <a:spcPct val="120000"/>
              </a:lnSpc>
              <a:buNone/>
            </a:pPr>
            <a:r>
              <a:rPr lang="en-US" sz="1150" dirty="0">
                <a:solidFill>
                  <a:srgbClr val="1E293B"/>
                </a:solidFill>
                <a:latin typeface="Calibri" pitchFamily="34" charset="0"/>
                <a:ea typeface="Calibri" pitchFamily="34" charset="-122"/>
                <a:cs typeface="Calibri" pitchFamily="34" charset="-120"/>
              </a:rPr>
              <a:t>Include for mandatory dependencies (Login requires Register); extend for optional actions (Cancel only sometimes happens after booking).</a:t>
            </a:r>
            <a:endParaRPr lang="en-US" sz="1150" dirty="0"/>
          </a:p>
        </p:txBody>
      </p:sp>
      <p:sp>
        <p:nvSpPr>
          <p:cNvPr id="14" name="Shape 10"/>
          <p:cNvSpPr/>
          <p:nvPr/>
        </p:nvSpPr>
        <p:spPr>
          <a:xfrm>
            <a:off x="548640" y="3886200"/>
            <a:ext cx="5440680" cy="2148840"/>
          </a:xfrm>
          <a:prstGeom prst="roundRect">
            <a:avLst>
              <a:gd name="adj" fmla="val 3404"/>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15" name="Shape 11"/>
          <p:cNvSpPr/>
          <p:nvPr/>
        </p:nvSpPr>
        <p:spPr>
          <a:xfrm>
            <a:off x="777240" y="4114800"/>
            <a:ext cx="548640" cy="548640"/>
          </a:xfrm>
          <a:prstGeom prst="ellipse">
            <a:avLst/>
          </a:prstGeom>
          <a:solidFill>
            <a:srgbClr val="1C7293"/>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919886" y="4257446"/>
            <a:ext cx="263347" cy="263347"/>
          </a:xfrm>
          <a:prstGeom prst="rect">
            <a:avLst/>
          </a:prstGeom>
        </p:spPr>
      </p:pic>
      <p:sp>
        <p:nvSpPr>
          <p:cNvPr id="17" name="Text 12"/>
          <p:cNvSpPr/>
          <p:nvPr/>
        </p:nvSpPr>
        <p:spPr>
          <a:xfrm>
            <a:off x="1463040" y="4114800"/>
            <a:ext cx="4297680" cy="502920"/>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Same-actor rule</a:t>
            </a:r>
            <a:endParaRPr lang="en-US" sz="1450" dirty="0"/>
          </a:p>
        </p:txBody>
      </p:sp>
      <p:sp>
        <p:nvSpPr>
          <p:cNvPr id="18" name="Text 13"/>
          <p:cNvSpPr/>
          <p:nvPr/>
        </p:nvSpPr>
        <p:spPr>
          <a:xfrm>
            <a:off x="777240" y="4800600"/>
            <a:ext cx="4983480" cy="1097280"/>
          </a:xfrm>
          <a:prstGeom prst="rect">
            <a:avLst/>
          </a:prstGeom>
          <a:noFill/>
          <a:ln/>
        </p:spPr>
        <p:txBody>
          <a:bodyPr wrap="square" lIns="0" tIns="0" rIns="0" bIns="0" rtlCol="0" anchor="ctr"/>
          <a:lstStyle/>
          <a:p>
            <a:pPr marL="0" indent="0">
              <a:lnSpc>
                <a:spcPct val="120000"/>
              </a:lnSpc>
              <a:buNone/>
            </a:pPr>
            <a:r>
              <a:rPr lang="en-US" sz="1150" dirty="0">
                <a:solidFill>
                  <a:srgbClr val="1E293B"/>
                </a:solidFill>
                <a:latin typeface="Calibri" pitchFamily="34" charset="0"/>
                <a:ea typeface="Calibri" pitchFamily="34" charset="-122"/>
                <a:cs typeface="Calibri" pitchFamily="34" charset="-120"/>
              </a:rPr>
              <a:t>Include/extend relationships only connect use cases performed by the same actor — cross-actor links stay as separate use cases.</a:t>
            </a:r>
            <a:endParaRPr lang="en-US" sz="1150" dirty="0"/>
          </a:p>
        </p:txBody>
      </p:sp>
      <p:sp>
        <p:nvSpPr>
          <p:cNvPr id="19" name="Shape 14"/>
          <p:cNvSpPr/>
          <p:nvPr/>
        </p:nvSpPr>
        <p:spPr>
          <a:xfrm>
            <a:off x="6309360" y="3886200"/>
            <a:ext cx="5440680" cy="2148840"/>
          </a:xfrm>
          <a:prstGeom prst="roundRect">
            <a:avLst>
              <a:gd name="adj" fmla="val 3404"/>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20" name="Shape 15"/>
          <p:cNvSpPr/>
          <p:nvPr/>
        </p:nvSpPr>
        <p:spPr>
          <a:xfrm>
            <a:off x="6537960" y="4114800"/>
            <a:ext cx="548640" cy="548640"/>
          </a:xfrm>
          <a:prstGeom prst="ellipse">
            <a:avLst/>
          </a:prstGeom>
          <a:solidFill>
            <a:srgbClr val="1C7293"/>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6680606" y="4257446"/>
            <a:ext cx="263347" cy="263347"/>
          </a:xfrm>
          <a:prstGeom prst="rect">
            <a:avLst/>
          </a:prstGeom>
        </p:spPr>
      </p:pic>
      <p:sp>
        <p:nvSpPr>
          <p:cNvPr id="22" name="Text 16"/>
          <p:cNvSpPr/>
          <p:nvPr/>
        </p:nvSpPr>
        <p:spPr>
          <a:xfrm>
            <a:off x="7223760" y="4114800"/>
            <a:ext cx="4297680" cy="502920"/>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Simplified CRUD</a:t>
            </a:r>
            <a:endParaRPr lang="en-US" sz="1450" dirty="0"/>
          </a:p>
        </p:txBody>
      </p:sp>
      <p:sp>
        <p:nvSpPr>
          <p:cNvPr id="23" name="Text 17"/>
          <p:cNvSpPr/>
          <p:nvPr/>
        </p:nvSpPr>
        <p:spPr>
          <a:xfrm>
            <a:off x="6537960" y="4800600"/>
            <a:ext cx="4983480" cy="1097280"/>
          </a:xfrm>
          <a:prstGeom prst="rect">
            <a:avLst/>
          </a:prstGeom>
          <a:noFill/>
          <a:ln/>
        </p:spPr>
        <p:txBody>
          <a:bodyPr wrap="square" lIns="0" tIns="0" rIns="0" bIns="0" rtlCol="0" anchor="ctr"/>
          <a:lstStyle/>
          <a:p>
            <a:pPr marL="0" indent="0">
              <a:lnSpc>
                <a:spcPct val="120000"/>
              </a:lnSpc>
              <a:buNone/>
            </a:pPr>
            <a:r>
              <a:rPr lang="en-US" sz="1150" dirty="0">
                <a:solidFill>
                  <a:srgbClr val="1E293B"/>
                </a:solidFill>
                <a:latin typeface="Calibri" pitchFamily="34" charset="0"/>
                <a:ea typeface="Calibri" pitchFamily="34" charset="-122"/>
                <a:cs typeface="Calibri" pitchFamily="34" charset="-120"/>
              </a:rPr>
              <a:t>Add/Update/Delete actions are grouped into single use cases like Manage Listings rather than drawn separately, keeping the diagram readable.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A43"/>
        </a:solidFill>
        <a:effectLst/>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0E3B5C">
              <a:alpha val="65000"/>
            </a:srgbClr>
          </a:solidFill>
          <a:ln/>
        </p:spPr>
        <p:txBody>
          <a:bodyPr/>
          <a:lstStyle/>
          <a:p>
            <a:endParaRPr lang="en-US"/>
          </a:p>
        </p:txBody>
      </p:sp>
      <p:sp>
        <p:nvSpPr>
          <p:cNvPr id="3" name="Text 1"/>
          <p:cNvSpPr/>
          <p:nvPr/>
        </p:nvSpPr>
        <p:spPr>
          <a:xfrm>
            <a:off x="548640" y="502920"/>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Progress &amp; Next Steps</a:t>
            </a:r>
            <a:endParaRPr lang="en-US" sz="2800" dirty="0"/>
          </a:p>
        </p:txBody>
      </p:sp>
      <p:sp>
        <p:nvSpPr>
          <p:cNvPr id="4" name="Shape 2"/>
          <p:cNvSpPr/>
          <p:nvPr/>
        </p:nvSpPr>
        <p:spPr>
          <a:xfrm>
            <a:off x="548640" y="1417320"/>
            <a:ext cx="5394960" cy="4754880"/>
          </a:xfrm>
          <a:prstGeom prst="roundRect">
            <a:avLst>
              <a:gd name="adj" fmla="val 1538"/>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5" name="Shape 3"/>
          <p:cNvSpPr/>
          <p:nvPr/>
        </p:nvSpPr>
        <p:spPr>
          <a:xfrm>
            <a:off x="868680" y="1691640"/>
            <a:ext cx="502920" cy="502920"/>
          </a:xfrm>
          <a:prstGeom prst="ellipse">
            <a:avLst/>
          </a:prstGeom>
          <a:solidFill>
            <a:srgbClr val="65B89C"/>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99439" y="1822399"/>
            <a:ext cx="241402" cy="241402"/>
          </a:xfrm>
          <a:prstGeom prst="rect">
            <a:avLst/>
          </a:prstGeom>
        </p:spPr>
      </p:pic>
      <p:sp>
        <p:nvSpPr>
          <p:cNvPr id="7" name="Text 4"/>
          <p:cNvSpPr/>
          <p:nvPr/>
        </p:nvSpPr>
        <p:spPr>
          <a:xfrm>
            <a:off x="1508760" y="1691640"/>
            <a:ext cx="4114800" cy="502920"/>
          </a:xfrm>
          <a:prstGeom prst="rect">
            <a:avLst/>
          </a:prstGeom>
          <a:noFill/>
          <a:ln/>
        </p:spPr>
        <p:txBody>
          <a:bodyPr wrap="square" lIns="0" tIns="0" rIns="0" bIns="0" rtlCol="0" anchor="ctr"/>
          <a:lstStyle/>
          <a:p>
            <a:pPr marL="0" indent="0">
              <a:buNone/>
            </a:pPr>
            <a:r>
              <a:rPr lang="en-US" sz="1700" b="1" dirty="0">
                <a:solidFill>
                  <a:srgbClr val="0F2A43"/>
                </a:solidFill>
                <a:latin typeface="Calibri" pitchFamily="34" charset="0"/>
                <a:ea typeface="Calibri" pitchFamily="34" charset="-122"/>
                <a:cs typeface="Calibri" pitchFamily="34" charset="-120"/>
              </a:rPr>
              <a:t>Completed</a:t>
            </a:r>
            <a:endParaRPr lang="en-US" sz="1700" dirty="0"/>
          </a:p>
        </p:txBody>
      </p:sp>
      <p:sp>
        <p:nvSpPr>
          <p:cNvPr id="8" name="Text 5"/>
          <p:cNvSpPr/>
          <p:nvPr/>
        </p:nvSpPr>
        <p:spPr>
          <a:xfrm>
            <a:off x="868680" y="2377440"/>
            <a:ext cx="4754880" cy="3566160"/>
          </a:xfrm>
          <a:prstGeom prst="rect">
            <a:avLst/>
          </a:prstGeom>
          <a:noFill/>
          <a:ln/>
        </p:spPr>
        <p:txBody>
          <a:bodyPr wrap="square" lIns="0" tIns="0" rIns="0" bIns="0" rtlCol="0" anchor="ctr"/>
          <a:lstStyle/>
          <a:p>
            <a:pPr marL="342900" indent="-342900">
              <a:lnSpc>
                <a:spcPct val="140000"/>
              </a:lnSpc>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Finalized the requirements and project proposal</a:t>
            </a:r>
          </a:p>
          <a:p>
            <a:pPr marL="342900" indent="-342900">
              <a:lnSpc>
                <a:spcPct val="140000"/>
              </a:lnSpc>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Problem definition and SRS finalized</a:t>
            </a:r>
            <a:endParaRPr lang="en-US" sz="1350" dirty="0"/>
          </a:p>
          <a:p>
            <a:pPr marL="342900" indent="-342900">
              <a:lnSpc>
                <a:spcPct val="140000"/>
              </a:lnSpc>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Full 21-table database schema designed and verified</a:t>
            </a:r>
            <a:endParaRPr lang="en-US" sz="1350" dirty="0"/>
          </a:p>
          <a:p>
            <a:pPr marL="342900" indent="-342900">
              <a:lnSpc>
                <a:spcPct val="140000"/>
              </a:lnSpc>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ER diagram completed with cardinalities</a:t>
            </a:r>
          </a:p>
          <a:p>
            <a:pPr marL="342900" indent="-342900">
              <a:lnSpc>
                <a:spcPct val="140000"/>
              </a:lnSpc>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Finalized the use case diagram</a:t>
            </a:r>
            <a:endParaRPr lang="en-US" sz="1350" dirty="0"/>
          </a:p>
          <a:p>
            <a:pPr marL="342900" indent="-342900">
              <a:lnSpc>
                <a:spcPct val="140000"/>
              </a:lnSpc>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Home login signup pages created</a:t>
            </a:r>
            <a:endParaRPr lang="en-US" sz="1350" dirty="0"/>
          </a:p>
        </p:txBody>
      </p:sp>
      <p:sp>
        <p:nvSpPr>
          <p:cNvPr id="9" name="Shape 6"/>
          <p:cNvSpPr/>
          <p:nvPr/>
        </p:nvSpPr>
        <p:spPr>
          <a:xfrm>
            <a:off x="6217920" y="1417320"/>
            <a:ext cx="5394960" cy="4754880"/>
          </a:xfrm>
          <a:prstGeom prst="roundRect">
            <a:avLst>
              <a:gd name="adj" fmla="val 1538"/>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10" name="Shape 7"/>
          <p:cNvSpPr/>
          <p:nvPr/>
        </p:nvSpPr>
        <p:spPr>
          <a:xfrm>
            <a:off x="6537960" y="1691640"/>
            <a:ext cx="502920" cy="502920"/>
          </a:xfrm>
          <a:prstGeom prst="ellipse">
            <a:avLst/>
          </a:prstGeom>
          <a:solidFill>
            <a:srgbClr val="1C7293"/>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6668719" y="1822399"/>
            <a:ext cx="241402" cy="241402"/>
          </a:xfrm>
          <a:prstGeom prst="rect">
            <a:avLst/>
          </a:prstGeom>
        </p:spPr>
      </p:pic>
      <p:sp>
        <p:nvSpPr>
          <p:cNvPr id="12" name="Text 8"/>
          <p:cNvSpPr/>
          <p:nvPr/>
        </p:nvSpPr>
        <p:spPr>
          <a:xfrm>
            <a:off x="7178040" y="1691640"/>
            <a:ext cx="4114800" cy="502920"/>
          </a:xfrm>
          <a:prstGeom prst="rect">
            <a:avLst/>
          </a:prstGeom>
          <a:noFill/>
          <a:ln/>
        </p:spPr>
        <p:txBody>
          <a:bodyPr wrap="square" lIns="0" tIns="0" rIns="0" bIns="0" rtlCol="0" anchor="ctr"/>
          <a:lstStyle/>
          <a:p>
            <a:pPr marL="0" indent="0">
              <a:buNone/>
            </a:pPr>
            <a:r>
              <a:rPr lang="en-US" sz="1700" b="1" dirty="0">
                <a:solidFill>
                  <a:srgbClr val="0F2A43"/>
                </a:solidFill>
                <a:latin typeface="Calibri" pitchFamily="34" charset="0"/>
                <a:ea typeface="Calibri" pitchFamily="34" charset="-122"/>
                <a:cs typeface="Calibri" pitchFamily="34" charset="-120"/>
              </a:rPr>
              <a:t>Next Steps</a:t>
            </a:r>
            <a:endParaRPr lang="en-US" sz="1700" dirty="0"/>
          </a:p>
        </p:txBody>
      </p:sp>
      <p:sp>
        <p:nvSpPr>
          <p:cNvPr id="13" name="Text 9"/>
          <p:cNvSpPr/>
          <p:nvPr/>
        </p:nvSpPr>
        <p:spPr>
          <a:xfrm>
            <a:off x="6537960" y="2377440"/>
            <a:ext cx="4754880" cy="3566160"/>
          </a:xfrm>
          <a:prstGeom prst="rect">
            <a:avLst/>
          </a:prstGeom>
          <a:noFill/>
          <a:ln/>
        </p:spPr>
        <p:txBody>
          <a:bodyPr wrap="square" lIns="0" tIns="0" rIns="0" bIns="0" rtlCol="0" anchor="ctr"/>
          <a:lstStyle/>
          <a:p>
            <a:pPr marL="342900" indent="-342900">
              <a:lnSpc>
                <a:spcPct val="140000"/>
              </a:lnSpc>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Finalize remaining diagrams</a:t>
            </a:r>
            <a:endParaRPr lang="en-US" sz="1350" dirty="0"/>
          </a:p>
          <a:p>
            <a:pPr marL="342900" indent="-342900">
              <a:lnSpc>
                <a:spcPct val="140000"/>
              </a:lnSpc>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Begin other frontend page structures (HTML/CSS)</a:t>
            </a:r>
            <a:endParaRPr lang="en-US" sz="1350" dirty="0"/>
          </a:p>
          <a:p>
            <a:pPr marL="342900" indent="-342900">
              <a:lnSpc>
                <a:spcPct val="140000"/>
              </a:lnSpc>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Build core backends (auth, listings, bookings)</a:t>
            </a:r>
            <a:endParaRPr lang="en-US" sz="1350" dirty="0"/>
          </a:p>
          <a:p>
            <a:pPr marL="342900" indent="-342900">
              <a:lnSpc>
                <a:spcPct val="140000"/>
              </a:lnSpc>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Implement commission and payment logic</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2A43"/>
        </a:solidFill>
        <a:effectLst/>
      </p:bgPr>
    </p:bg>
    <p:spTree>
      <p:nvGrpSpPr>
        <p:cNvPr id="1" name="">
          <a:extLst>
            <a:ext uri="{FF2B5EF4-FFF2-40B4-BE49-F238E27FC236}">
              <a16:creationId xmlns:a16="http://schemas.microsoft.com/office/drawing/2014/main" id="{ABC76BCD-3400-6DD0-EA1D-8C619AF864E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CA5147D-D3FC-F23F-B221-BF4A85426F64}"/>
              </a:ext>
            </a:extLst>
          </p:cNvPr>
          <p:cNvSpPr/>
          <p:nvPr/>
        </p:nvSpPr>
        <p:spPr>
          <a:xfrm>
            <a:off x="-961901" y="-1028700"/>
            <a:ext cx="5486400" cy="5486400"/>
          </a:xfrm>
          <a:prstGeom prst="ellipse">
            <a:avLst/>
          </a:prstGeom>
          <a:solidFill>
            <a:srgbClr val="0E3B5C">
              <a:alpha val="65000"/>
            </a:srgbClr>
          </a:solidFill>
          <a:ln/>
        </p:spPr>
        <p:txBody>
          <a:bodyPr/>
          <a:lstStyle/>
          <a:p>
            <a:endParaRPr lang="en-US"/>
          </a:p>
        </p:txBody>
      </p:sp>
      <p:sp>
        <p:nvSpPr>
          <p:cNvPr id="3" name="Text 1">
            <a:extLst>
              <a:ext uri="{FF2B5EF4-FFF2-40B4-BE49-F238E27FC236}">
                <a16:creationId xmlns:a16="http://schemas.microsoft.com/office/drawing/2014/main" id="{F8F15A19-7B3A-91ED-726F-93B8C9E1374C}"/>
              </a:ext>
            </a:extLst>
          </p:cNvPr>
          <p:cNvSpPr/>
          <p:nvPr/>
        </p:nvSpPr>
        <p:spPr>
          <a:xfrm>
            <a:off x="3962400" y="2896392"/>
            <a:ext cx="8229600" cy="548640"/>
          </a:xfrm>
          <a:prstGeom prst="rect">
            <a:avLst/>
          </a:prstGeom>
          <a:noFill/>
          <a:ln/>
        </p:spPr>
        <p:txBody>
          <a:bodyPr wrap="square" lIns="0" tIns="0" rIns="0" bIns="0" rtlCol="0" anchor="ctr"/>
          <a:lstStyle/>
          <a:p>
            <a:pPr marL="0" indent="0">
              <a:buNone/>
            </a:pPr>
            <a:r>
              <a:rPr lang="en-US" sz="6600" b="1" dirty="0">
                <a:solidFill>
                  <a:srgbClr val="FFFFFF"/>
                </a:solidFill>
                <a:latin typeface="Cambria" pitchFamily="34" charset="0"/>
                <a:ea typeface="Cambria" pitchFamily="34" charset="-122"/>
                <a:cs typeface="Cambria" pitchFamily="34" charset="-120"/>
              </a:rPr>
              <a:t>Thank You</a:t>
            </a:r>
            <a:endParaRPr lang="en-US" sz="6600" dirty="0"/>
          </a:p>
        </p:txBody>
      </p:sp>
      <p:sp>
        <p:nvSpPr>
          <p:cNvPr id="7" name="Text 4">
            <a:extLst>
              <a:ext uri="{FF2B5EF4-FFF2-40B4-BE49-F238E27FC236}">
                <a16:creationId xmlns:a16="http://schemas.microsoft.com/office/drawing/2014/main" id="{590D43A1-8106-ACED-96D3-92C612D91275}"/>
              </a:ext>
            </a:extLst>
          </p:cNvPr>
          <p:cNvSpPr/>
          <p:nvPr/>
        </p:nvSpPr>
        <p:spPr>
          <a:xfrm>
            <a:off x="1508760" y="1691640"/>
            <a:ext cx="4114800" cy="502920"/>
          </a:xfrm>
          <a:prstGeom prst="rect">
            <a:avLst/>
          </a:prstGeom>
          <a:noFill/>
          <a:ln/>
        </p:spPr>
        <p:txBody>
          <a:bodyPr wrap="square" lIns="0" tIns="0" rIns="0" bIns="0" rtlCol="0" anchor="ctr"/>
          <a:lstStyle/>
          <a:p>
            <a:pPr marL="0" indent="0">
              <a:buNone/>
            </a:pPr>
            <a:r>
              <a:rPr lang="en-US" sz="1700" b="1" dirty="0">
                <a:solidFill>
                  <a:srgbClr val="0F2A43"/>
                </a:solidFill>
                <a:latin typeface="Calibri" pitchFamily="34" charset="0"/>
                <a:ea typeface="Calibri" pitchFamily="34" charset="-122"/>
                <a:cs typeface="Calibri" pitchFamily="34" charset="-120"/>
              </a:rPr>
              <a:t>Completed</a:t>
            </a:r>
            <a:endParaRPr lang="en-US" sz="1700" dirty="0"/>
          </a:p>
        </p:txBody>
      </p:sp>
      <p:sp>
        <p:nvSpPr>
          <p:cNvPr id="8" name="Text 5">
            <a:extLst>
              <a:ext uri="{FF2B5EF4-FFF2-40B4-BE49-F238E27FC236}">
                <a16:creationId xmlns:a16="http://schemas.microsoft.com/office/drawing/2014/main" id="{39176C21-88DA-E831-8F83-A496085066F4}"/>
              </a:ext>
            </a:extLst>
          </p:cNvPr>
          <p:cNvSpPr/>
          <p:nvPr/>
        </p:nvSpPr>
        <p:spPr>
          <a:xfrm>
            <a:off x="868680" y="2377440"/>
            <a:ext cx="4754880" cy="3566160"/>
          </a:xfrm>
          <a:prstGeom prst="rect">
            <a:avLst/>
          </a:prstGeom>
          <a:noFill/>
          <a:ln/>
        </p:spPr>
        <p:txBody>
          <a:bodyPr wrap="square" lIns="0" tIns="0" rIns="0" bIns="0" rtlCol="0" anchor="ctr"/>
          <a:lstStyle/>
          <a:p>
            <a:pPr marL="342900" indent="-342900">
              <a:lnSpc>
                <a:spcPct val="140000"/>
              </a:lnSpc>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Problem definition and SRS finalized</a:t>
            </a:r>
            <a:endParaRPr lang="en-US" sz="1350" dirty="0"/>
          </a:p>
          <a:p>
            <a:pPr marL="342900" indent="-342900">
              <a:lnSpc>
                <a:spcPct val="140000"/>
              </a:lnSpc>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Full 21-table database schema designed and verified</a:t>
            </a:r>
            <a:endParaRPr lang="en-US" sz="1350" dirty="0"/>
          </a:p>
          <a:p>
            <a:pPr marL="342900" indent="-342900">
              <a:lnSpc>
                <a:spcPct val="140000"/>
              </a:lnSpc>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ER diagram completed with cardinalities</a:t>
            </a:r>
            <a:endParaRPr lang="en-US" sz="1350" dirty="0"/>
          </a:p>
          <a:p>
            <a:pPr marL="342900" indent="-342900">
              <a:lnSpc>
                <a:spcPct val="140000"/>
              </a:lnSpc>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Use case diagram drafted with include/extend relationships</a:t>
            </a:r>
            <a:endParaRPr lang="en-US" sz="1350" dirty="0"/>
          </a:p>
        </p:txBody>
      </p:sp>
      <p:sp>
        <p:nvSpPr>
          <p:cNvPr id="12" name="Text 8">
            <a:extLst>
              <a:ext uri="{FF2B5EF4-FFF2-40B4-BE49-F238E27FC236}">
                <a16:creationId xmlns:a16="http://schemas.microsoft.com/office/drawing/2014/main" id="{1ABE386A-B598-7015-E5E8-D96568552C80}"/>
              </a:ext>
            </a:extLst>
          </p:cNvPr>
          <p:cNvSpPr/>
          <p:nvPr/>
        </p:nvSpPr>
        <p:spPr>
          <a:xfrm>
            <a:off x="7178040" y="1691640"/>
            <a:ext cx="4114800" cy="502920"/>
          </a:xfrm>
          <a:prstGeom prst="rect">
            <a:avLst/>
          </a:prstGeom>
          <a:noFill/>
          <a:ln/>
        </p:spPr>
        <p:txBody>
          <a:bodyPr wrap="square" lIns="0" tIns="0" rIns="0" bIns="0" rtlCol="0" anchor="ctr"/>
          <a:lstStyle/>
          <a:p>
            <a:pPr marL="0" indent="0">
              <a:buNone/>
            </a:pPr>
            <a:r>
              <a:rPr lang="en-US" sz="1700" b="1" dirty="0">
                <a:solidFill>
                  <a:srgbClr val="0F2A43"/>
                </a:solidFill>
                <a:latin typeface="Calibri" pitchFamily="34" charset="0"/>
                <a:ea typeface="Calibri" pitchFamily="34" charset="-122"/>
                <a:cs typeface="Calibri" pitchFamily="34" charset="-120"/>
              </a:rPr>
              <a:t>Next Steps</a:t>
            </a:r>
            <a:endParaRPr lang="en-US" sz="1700" dirty="0"/>
          </a:p>
        </p:txBody>
      </p:sp>
      <p:sp>
        <p:nvSpPr>
          <p:cNvPr id="13" name="Text 9">
            <a:extLst>
              <a:ext uri="{FF2B5EF4-FFF2-40B4-BE49-F238E27FC236}">
                <a16:creationId xmlns:a16="http://schemas.microsoft.com/office/drawing/2014/main" id="{4CF9D667-1558-7980-6B27-CCFC43CBF53B}"/>
              </a:ext>
            </a:extLst>
          </p:cNvPr>
          <p:cNvSpPr/>
          <p:nvPr/>
        </p:nvSpPr>
        <p:spPr>
          <a:xfrm>
            <a:off x="6537960" y="2377440"/>
            <a:ext cx="4754880" cy="3566160"/>
          </a:xfrm>
          <a:prstGeom prst="rect">
            <a:avLst/>
          </a:prstGeom>
          <a:noFill/>
          <a:ln/>
        </p:spPr>
        <p:txBody>
          <a:bodyPr wrap="square" lIns="0" tIns="0" rIns="0" bIns="0" rtlCol="0" anchor="ctr"/>
          <a:lstStyle/>
          <a:p>
            <a:pPr marL="342900" indent="-342900">
              <a:lnSpc>
                <a:spcPct val="140000"/>
              </a:lnSpc>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Finalize remaining use case diagram corrections</a:t>
            </a:r>
            <a:endParaRPr lang="en-US" sz="1350" dirty="0"/>
          </a:p>
          <a:p>
            <a:pPr marL="342900" indent="-342900">
              <a:lnSpc>
                <a:spcPct val="140000"/>
              </a:lnSpc>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Begin frontend page structure (HTML/CSS)</a:t>
            </a:r>
            <a:endParaRPr lang="en-US" sz="1350" dirty="0"/>
          </a:p>
          <a:p>
            <a:pPr marL="342900" indent="-342900">
              <a:lnSpc>
                <a:spcPct val="140000"/>
              </a:lnSpc>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Build core backend (auth, listings, bookings)</a:t>
            </a:r>
            <a:endParaRPr lang="en-US" sz="1350" dirty="0"/>
          </a:p>
          <a:p>
            <a:pPr marL="342900" indent="-342900">
              <a:lnSpc>
                <a:spcPct val="140000"/>
              </a:lnSpc>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Implement commission and payment logic</a:t>
            </a:r>
            <a:endParaRPr lang="en-US" sz="1350" dirty="0"/>
          </a:p>
        </p:txBody>
      </p:sp>
    </p:spTree>
    <p:extLst>
      <p:ext uri="{BB962C8B-B14F-4D97-AF65-F5344CB8AC3E}">
        <p14:creationId xmlns:p14="http://schemas.microsoft.com/office/powerpoint/2010/main" val="40607961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TotalTime>
  <Words>1171</Words>
  <Application>Microsoft Office PowerPoint</Application>
  <PresentationFormat>Widescreen</PresentationFormat>
  <Paragraphs>120</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CeylonTourMate.lk</dc:title>
  <dc:subject>PptxGenJS Presentation</dc:subject>
  <dc:creator>Final Year Project</dc:creator>
  <cp:lastModifiedBy>naveen rashmika</cp:lastModifiedBy>
  <cp:revision>5</cp:revision>
  <dcterms:created xsi:type="dcterms:W3CDTF">2026-06-17T12:50:24Z</dcterms:created>
  <dcterms:modified xsi:type="dcterms:W3CDTF">2026-06-18T04:12:37Z</dcterms:modified>
</cp:coreProperties>
</file>